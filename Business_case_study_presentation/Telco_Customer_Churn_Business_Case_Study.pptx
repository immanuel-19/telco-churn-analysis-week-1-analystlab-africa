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7"/>
  </p:notesMasterIdLst>
  <p:sldIdLst>
    <p:sldId id="257" r:id="rId2"/>
    <p:sldId id="258" r:id="rId3"/>
    <p:sldId id="259" r:id="rId4"/>
    <p:sldId id="264" r:id="rId5"/>
    <p:sldId id="260" r:id="rId6"/>
    <p:sldId id="265" r:id="rId7"/>
    <p:sldId id="266" r:id="rId8"/>
    <p:sldId id="261" r:id="rId9"/>
    <p:sldId id="267" r:id="rId10"/>
    <p:sldId id="268" r:id="rId11"/>
    <p:sldId id="269" r:id="rId12"/>
    <p:sldId id="270" r:id="rId13"/>
    <p:sldId id="262" r:id="rId14"/>
    <p:sldId id="271" r:id="rId15"/>
    <p:sldId id="272" r:id="rId16"/>
  </p:sldIdLst>
  <p:sldSz cx="16256000" cy="9144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A6B7C"/>
    <a:srgbClr val="14262A"/>
    <a:srgbClr val="26464E"/>
    <a:srgbClr val="5099AA"/>
    <a:srgbClr val="EDE8E0"/>
    <a:srgbClr val="6F8D91"/>
    <a:srgbClr val="F5F1EB"/>
    <a:srgbClr val="315258"/>
    <a:srgbClr val="4B6B70"/>
    <a:srgbClr val="D8EBE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049" autoAdjust="0"/>
  </p:normalViewPr>
  <p:slideViewPr>
    <p:cSldViewPr snapToGrid="0">
      <p:cViewPr varScale="1">
        <p:scale>
          <a:sx n="52" d="100"/>
          <a:sy n="52" d="100"/>
        </p:scale>
        <p:origin x="496" y="68"/>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53" d="100"/>
          <a:sy n="53" d="100"/>
        </p:scale>
        <p:origin x="2648" y="3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FD3965-D187-49EF-ACF7-12E375274243}" type="datetimeFigureOut">
              <a:rPr lang="en-US" smtClean="0"/>
              <a:t>8/5/2026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BB478E-BF31-45CD-8340-46142CA220D4}" type="slidenum">
              <a:rPr lang="en-US" smtClean="0"/>
              <a:t>‹#›</a:t>
            </a:fld>
            <a:endParaRPr lang="en-US"/>
          </a:p>
        </p:txBody>
      </p:sp>
    </p:spTree>
    <p:extLst>
      <p:ext uri="{BB962C8B-B14F-4D97-AF65-F5344CB8AC3E}">
        <p14:creationId xmlns:p14="http://schemas.microsoft.com/office/powerpoint/2010/main" val="3865989418"/>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mn-lt"/>
        <a:ea typeface="+mn-ea"/>
        <a:cs typeface="+mn-cs"/>
      </a:defRPr>
    </a:lvl1pPr>
    <a:lvl2pPr marL="609585" algn="l" defTabSz="1219170" rtl="0" eaLnBrk="1" latinLnBrk="0" hangingPunct="1">
      <a:defRPr sz="1600" kern="1200">
        <a:solidFill>
          <a:schemeClr val="tx1"/>
        </a:solidFill>
        <a:latin typeface="+mn-lt"/>
        <a:ea typeface="+mn-ea"/>
        <a:cs typeface="+mn-cs"/>
      </a:defRPr>
    </a:lvl2pPr>
    <a:lvl3pPr marL="1219170" algn="l" defTabSz="1219170" rtl="0" eaLnBrk="1" latinLnBrk="0" hangingPunct="1">
      <a:defRPr sz="1600" kern="1200">
        <a:solidFill>
          <a:schemeClr val="tx1"/>
        </a:solidFill>
        <a:latin typeface="+mn-lt"/>
        <a:ea typeface="+mn-ea"/>
        <a:cs typeface="+mn-cs"/>
      </a:defRPr>
    </a:lvl3pPr>
    <a:lvl4pPr marL="1828754" algn="l" defTabSz="1219170" rtl="0" eaLnBrk="1" latinLnBrk="0" hangingPunct="1">
      <a:defRPr sz="1600" kern="1200">
        <a:solidFill>
          <a:schemeClr val="tx1"/>
        </a:solidFill>
        <a:latin typeface="+mn-lt"/>
        <a:ea typeface="+mn-ea"/>
        <a:cs typeface="+mn-cs"/>
      </a:defRPr>
    </a:lvl4pPr>
    <a:lvl5pPr marL="2438339" algn="l" defTabSz="1219170" rtl="0" eaLnBrk="1" latinLnBrk="0" hangingPunct="1">
      <a:defRPr sz="1600" kern="1200">
        <a:solidFill>
          <a:schemeClr val="tx1"/>
        </a:solidFill>
        <a:latin typeface="+mn-lt"/>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032000" y="1496484"/>
            <a:ext cx="12192000" cy="3183467"/>
          </a:xfrm>
        </p:spPr>
        <p:txBody>
          <a:bodyPr anchor="b"/>
          <a:lstStyle>
            <a:lvl1pPr algn="ctr">
              <a:defRPr sz="8000"/>
            </a:lvl1pPr>
          </a:lstStyle>
          <a:p>
            <a:r>
              <a:rPr lang="en-US"/>
              <a:t>Click to edit Master title style</a:t>
            </a:r>
            <a:endParaRPr lang="en-US" dirty="0"/>
          </a:p>
        </p:txBody>
      </p:sp>
      <p:sp>
        <p:nvSpPr>
          <p:cNvPr id="3" name="Subtitle 2"/>
          <p:cNvSpPr>
            <a:spLocks noGrp="1"/>
          </p:cNvSpPr>
          <p:nvPr>
            <p:ph type="subTitle" idx="1"/>
          </p:nvPr>
        </p:nvSpPr>
        <p:spPr>
          <a:xfrm>
            <a:off x="2032000" y="4802717"/>
            <a:ext cx="12192000" cy="2207683"/>
          </a:xfrm>
        </p:spPr>
        <p:txBody>
          <a:bodyPr/>
          <a:lstStyle>
            <a:lvl1pPr marL="0" indent="0" algn="ctr">
              <a:buNone/>
              <a:defRPr sz="3200"/>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90FFAB3-A335-4529-AFC3-B463D2B06511}" type="datetimeFigureOut">
              <a:rPr lang="en-US" smtClean="0"/>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2243FC-ADAE-4B98-88EB-D9784D386B4C}" type="slidenum">
              <a:rPr lang="en-US" smtClean="0"/>
              <a:t>‹#›</a:t>
            </a:fld>
            <a:endParaRPr lang="en-US"/>
          </a:p>
        </p:txBody>
      </p:sp>
    </p:spTree>
    <p:extLst>
      <p:ext uri="{BB962C8B-B14F-4D97-AF65-F5344CB8AC3E}">
        <p14:creationId xmlns:p14="http://schemas.microsoft.com/office/powerpoint/2010/main" val="4451281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0FFAB3-A335-4529-AFC3-B463D2B06511}" type="datetimeFigureOut">
              <a:rPr lang="en-US" smtClean="0"/>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2243FC-ADAE-4B98-88EB-D9784D386B4C}" type="slidenum">
              <a:rPr lang="en-US" smtClean="0"/>
              <a:t>‹#›</a:t>
            </a:fld>
            <a:endParaRPr lang="en-US"/>
          </a:p>
        </p:txBody>
      </p:sp>
    </p:spTree>
    <p:extLst>
      <p:ext uri="{BB962C8B-B14F-4D97-AF65-F5344CB8AC3E}">
        <p14:creationId xmlns:p14="http://schemas.microsoft.com/office/powerpoint/2010/main" val="2022680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09133" y="2279652"/>
            <a:ext cx="14020800" cy="3803649"/>
          </a:xfrm>
        </p:spPr>
        <p:txBody>
          <a:bodyPr anchor="b"/>
          <a:lstStyle>
            <a:lvl1pPr>
              <a:defRPr sz="8000"/>
            </a:lvl1pPr>
          </a:lstStyle>
          <a:p>
            <a:r>
              <a:rPr lang="en-US"/>
              <a:t>Click to edit Master title style</a:t>
            </a:r>
            <a:endParaRPr lang="en-US" dirty="0"/>
          </a:p>
        </p:txBody>
      </p:sp>
      <p:sp>
        <p:nvSpPr>
          <p:cNvPr id="3" name="Text Placeholder 2"/>
          <p:cNvSpPr>
            <a:spLocks noGrp="1"/>
          </p:cNvSpPr>
          <p:nvPr>
            <p:ph type="body" idx="1"/>
          </p:nvPr>
        </p:nvSpPr>
        <p:spPr>
          <a:xfrm>
            <a:off x="1109133" y="6119285"/>
            <a:ext cx="14020800" cy="2000249"/>
          </a:xfrm>
        </p:spPr>
        <p:txBody>
          <a:bodyPr/>
          <a:lstStyle>
            <a:lvl1pPr marL="0" indent="0">
              <a:buNone/>
              <a:defRPr sz="3200">
                <a:solidFill>
                  <a:schemeClr val="tx1">
                    <a:tint val="82000"/>
                  </a:schemeClr>
                </a:solidFill>
              </a:defRPr>
            </a:lvl1pPr>
            <a:lvl2pPr marL="609585" indent="0">
              <a:buNone/>
              <a:defRPr sz="2667">
                <a:solidFill>
                  <a:schemeClr val="tx1">
                    <a:tint val="82000"/>
                  </a:schemeClr>
                </a:solidFill>
              </a:defRPr>
            </a:lvl2pPr>
            <a:lvl3pPr marL="1219170" indent="0">
              <a:buNone/>
              <a:defRPr sz="2400">
                <a:solidFill>
                  <a:schemeClr val="tx1">
                    <a:tint val="82000"/>
                  </a:schemeClr>
                </a:solidFill>
              </a:defRPr>
            </a:lvl3pPr>
            <a:lvl4pPr marL="1828754" indent="0">
              <a:buNone/>
              <a:defRPr sz="2133">
                <a:solidFill>
                  <a:schemeClr val="tx1">
                    <a:tint val="82000"/>
                  </a:schemeClr>
                </a:solidFill>
              </a:defRPr>
            </a:lvl4pPr>
            <a:lvl5pPr marL="2438339" indent="0">
              <a:buNone/>
              <a:defRPr sz="2133">
                <a:solidFill>
                  <a:schemeClr val="tx1">
                    <a:tint val="82000"/>
                  </a:schemeClr>
                </a:solidFill>
              </a:defRPr>
            </a:lvl5pPr>
            <a:lvl6pPr marL="3047924" indent="0">
              <a:buNone/>
              <a:defRPr sz="2133">
                <a:solidFill>
                  <a:schemeClr val="tx1">
                    <a:tint val="82000"/>
                  </a:schemeClr>
                </a:solidFill>
              </a:defRPr>
            </a:lvl6pPr>
            <a:lvl7pPr marL="3657509" indent="0">
              <a:buNone/>
              <a:defRPr sz="2133">
                <a:solidFill>
                  <a:schemeClr val="tx1">
                    <a:tint val="82000"/>
                  </a:schemeClr>
                </a:solidFill>
              </a:defRPr>
            </a:lvl7pPr>
            <a:lvl8pPr marL="4267093" indent="0">
              <a:buNone/>
              <a:defRPr sz="2133">
                <a:solidFill>
                  <a:schemeClr val="tx1">
                    <a:tint val="82000"/>
                  </a:schemeClr>
                </a:solidFill>
              </a:defRPr>
            </a:lvl8pPr>
            <a:lvl9pPr marL="4876678" indent="0">
              <a:buNone/>
              <a:defRPr sz="2133">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90FFAB3-A335-4529-AFC3-B463D2B06511}" type="datetimeFigureOut">
              <a:rPr lang="en-US" smtClean="0"/>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2243FC-ADAE-4B98-88EB-D9784D386B4C}" type="slidenum">
              <a:rPr lang="en-US" smtClean="0"/>
              <a:t>‹#›</a:t>
            </a:fld>
            <a:endParaRPr lang="en-US"/>
          </a:p>
        </p:txBody>
      </p:sp>
    </p:spTree>
    <p:extLst>
      <p:ext uri="{BB962C8B-B14F-4D97-AF65-F5344CB8AC3E}">
        <p14:creationId xmlns:p14="http://schemas.microsoft.com/office/powerpoint/2010/main" val="1252442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17600" y="2434167"/>
            <a:ext cx="690880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8229600" y="2434167"/>
            <a:ext cx="690880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90FFAB3-A335-4529-AFC3-B463D2B06511}" type="datetimeFigureOut">
              <a:rPr lang="en-US" smtClean="0"/>
              <a:t>8/5/2026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62243FC-ADAE-4B98-88EB-D9784D386B4C}" type="slidenum">
              <a:rPr lang="en-US" smtClean="0"/>
              <a:t>‹#›</a:t>
            </a:fld>
            <a:endParaRPr lang="en-US"/>
          </a:p>
        </p:txBody>
      </p:sp>
    </p:spTree>
    <p:extLst>
      <p:ext uri="{BB962C8B-B14F-4D97-AF65-F5344CB8AC3E}">
        <p14:creationId xmlns:p14="http://schemas.microsoft.com/office/powerpoint/2010/main" val="33629406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19717" y="486834"/>
            <a:ext cx="14020800" cy="176741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19718" y="2241551"/>
            <a:ext cx="6877049" cy="1098549"/>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4" name="Content Placeholder 3"/>
          <p:cNvSpPr>
            <a:spLocks noGrp="1"/>
          </p:cNvSpPr>
          <p:nvPr>
            <p:ph sz="half" idx="2"/>
          </p:nvPr>
        </p:nvSpPr>
        <p:spPr>
          <a:xfrm>
            <a:off x="1119718" y="3340100"/>
            <a:ext cx="6877049"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8229600" y="2241551"/>
            <a:ext cx="6910917" cy="1098549"/>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6" name="Content Placeholder 5"/>
          <p:cNvSpPr>
            <a:spLocks noGrp="1"/>
          </p:cNvSpPr>
          <p:nvPr>
            <p:ph sz="quarter" idx="4"/>
          </p:nvPr>
        </p:nvSpPr>
        <p:spPr>
          <a:xfrm>
            <a:off x="8229600" y="3340100"/>
            <a:ext cx="6910917"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90FFAB3-A335-4529-AFC3-B463D2B06511}" type="datetimeFigureOut">
              <a:rPr lang="en-US" smtClean="0"/>
              <a:t>8/5/2026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62243FC-ADAE-4B98-88EB-D9784D386B4C}" type="slidenum">
              <a:rPr lang="en-US" smtClean="0"/>
              <a:t>‹#›</a:t>
            </a:fld>
            <a:endParaRPr lang="en-US"/>
          </a:p>
        </p:txBody>
      </p:sp>
    </p:spTree>
    <p:extLst>
      <p:ext uri="{BB962C8B-B14F-4D97-AF65-F5344CB8AC3E}">
        <p14:creationId xmlns:p14="http://schemas.microsoft.com/office/powerpoint/2010/main" val="11715800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90FFAB3-A335-4529-AFC3-B463D2B06511}" type="datetimeFigureOut">
              <a:rPr lang="en-US" smtClean="0"/>
              <a:t>8/5/2026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62243FC-ADAE-4B98-88EB-D9784D386B4C}" type="slidenum">
              <a:rPr lang="en-US" smtClean="0"/>
              <a:t>‹#›</a:t>
            </a:fld>
            <a:endParaRPr lang="en-US"/>
          </a:p>
        </p:txBody>
      </p:sp>
    </p:spTree>
    <p:extLst>
      <p:ext uri="{BB962C8B-B14F-4D97-AF65-F5344CB8AC3E}">
        <p14:creationId xmlns:p14="http://schemas.microsoft.com/office/powerpoint/2010/main" val="2337191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90FFAB3-A335-4529-AFC3-B463D2B06511}" type="datetimeFigureOut">
              <a:rPr lang="en-US" smtClean="0"/>
              <a:t>8/5/2026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62243FC-ADAE-4B98-88EB-D9784D386B4C}" type="slidenum">
              <a:rPr lang="en-US" smtClean="0"/>
              <a:t>‹#›</a:t>
            </a:fld>
            <a:endParaRPr lang="en-US"/>
          </a:p>
        </p:txBody>
      </p:sp>
    </p:spTree>
    <p:extLst>
      <p:ext uri="{BB962C8B-B14F-4D97-AF65-F5344CB8AC3E}">
        <p14:creationId xmlns:p14="http://schemas.microsoft.com/office/powerpoint/2010/main" val="32660770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9718" y="609600"/>
            <a:ext cx="5242983" cy="2133600"/>
          </a:xfrm>
        </p:spPr>
        <p:txBody>
          <a:bodyPr anchor="b"/>
          <a:lstStyle>
            <a:lvl1pPr>
              <a:defRPr sz="4267"/>
            </a:lvl1pPr>
          </a:lstStyle>
          <a:p>
            <a:r>
              <a:rPr lang="en-US"/>
              <a:t>Click to edit Master title style</a:t>
            </a:r>
            <a:endParaRPr lang="en-US" dirty="0"/>
          </a:p>
        </p:txBody>
      </p:sp>
      <p:sp>
        <p:nvSpPr>
          <p:cNvPr id="3" name="Content Placeholder 2"/>
          <p:cNvSpPr>
            <a:spLocks noGrp="1"/>
          </p:cNvSpPr>
          <p:nvPr>
            <p:ph idx="1"/>
          </p:nvPr>
        </p:nvSpPr>
        <p:spPr>
          <a:xfrm>
            <a:off x="6910917" y="1316567"/>
            <a:ext cx="8229600" cy="6498167"/>
          </a:xfr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9718" y="2743200"/>
            <a:ext cx="5242983" cy="5082117"/>
          </a:xfrm>
        </p:spPr>
        <p:txBody>
          <a:bodyPr/>
          <a:lstStyle>
            <a:lvl1pPr marL="0" indent="0">
              <a:buNone/>
              <a:defRPr sz="2133"/>
            </a:lvl1pPr>
            <a:lvl2pPr marL="609585" indent="0">
              <a:buNone/>
              <a:defRPr sz="1867"/>
            </a:lvl2pPr>
            <a:lvl3pPr marL="1219170" indent="0">
              <a:buNone/>
              <a:defRPr sz="1600"/>
            </a:lvl3pPr>
            <a:lvl4pPr marL="1828754" indent="0">
              <a:buNone/>
              <a:defRPr sz="1333"/>
            </a:lvl4pPr>
            <a:lvl5pPr marL="2438339" indent="0">
              <a:buNone/>
              <a:defRPr sz="1333"/>
            </a:lvl5pPr>
            <a:lvl6pPr marL="3047924" indent="0">
              <a:buNone/>
              <a:defRPr sz="1333"/>
            </a:lvl6pPr>
            <a:lvl7pPr marL="3657509" indent="0">
              <a:buNone/>
              <a:defRPr sz="1333"/>
            </a:lvl7pPr>
            <a:lvl8pPr marL="4267093" indent="0">
              <a:buNone/>
              <a:defRPr sz="1333"/>
            </a:lvl8pPr>
            <a:lvl9pPr marL="4876678" indent="0">
              <a:buNone/>
              <a:defRPr sz="1333"/>
            </a:lvl9pPr>
          </a:lstStyle>
          <a:p>
            <a:pPr lvl="0"/>
            <a:r>
              <a:rPr lang="en-US"/>
              <a:t>Click to edit Master text styles</a:t>
            </a:r>
          </a:p>
        </p:txBody>
      </p:sp>
      <p:sp>
        <p:nvSpPr>
          <p:cNvPr id="5" name="Date Placeholder 4"/>
          <p:cNvSpPr>
            <a:spLocks noGrp="1"/>
          </p:cNvSpPr>
          <p:nvPr>
            <p:ph type="dt" sz="half" idx="10"/>
          </p:nvPr>
        </p:nvSpPr>
        <p:spPr/>
        <p:txBody>
          <a:bodyPr/>
          <a:lstStyle/>
          <a:p>
            <a:fld id="{590FFAB3-A335-4529-AFC3-B463D2B06511}" type="datetimeFigureOut">
              <a:rPr lang="en-US" smtClean="0"/>
              <a:t>8/5/2026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62243FC-ADAE-4B98-88EB-D9784D386B4C}" type="slidenum">
              <a:rPr lang="en-US" smtClean="0"/>
              <a:t>‹#›</a:t>
            </a:fld>
            <a:endParaRPr lang="en-US"/>
          </a:p>
        </p:txBody>
      </p:sp>
    </p:spTree>
    <p:extLst>
      <p:ext uri="{BB962C8B-B14F-4D97-AF65-F5344CB8AC3E}">
        <p14:creationId xmlns:p14="http://schemas.microsoft.com/office/powerpoint/2010/main" val="520243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9718" y="609600"/>
            <a:ext cx="5242983" cy="2133600"/>
          </a:xfrm>
        </p:spPr>
        <p:txBody>
          <a:bodyPr anchor="b"/>
          <a:lstStyle>
            <a:lvl1pPr>
              <a:defRPr sz="4267"/>
            </a:lvl1pPr>
          </a:lstStyle>
          <a:p>
            <a:r>
              <a:rPr lang="en-US"/>
              <a:t>Click to edit Master title style</a:t>
            </a:r>
            <a:endParaRPr lang="en-US" dirty="0"/>
          </a:p>
        </p:txBody>
      </p:sp>
      <p:sp>
        <p:nvSpPr>
          <p:cNvPr id="3" name="Picture Placeholder 2"/>
          <p:cNvSpPr>
            <a:spLocks noGrp="1" noChangeAspect="1"/>
          </p:cNvSpPr>
          <p:nvPr>
            <p:ph type="pic" idx="1"/>
          </p:nvPr>
        </p:nvSpPr>
        <p:spPr>
          <a:xfrm>
            <a:off x="6910917" y="1316567"/>
            <a:ext cx="8229600" cy="6498167"/>
          </a:xfrm>
        </p:spPr>
        <p:txBody>
          <a:bodyPr anchor="t"/>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t>Click icon to add picture</a:t>
            </a:r>
            <a:endParaRPr lang="en-US" dirty="0"/>
          </a:p>
        </p:txBody>
      </p:sp>
      <p:sp>
        <p:nvSpPr>
          <p:cNvPr id="4" name="Text Placeholder 3"/>
          <p:cNvSpPr>
            <a:spLocks noGrp="1"/>
          </p:cNvSpPr>
          <p:nvPr>
            <p:ph type="body" sz="half" idx="2"/>
          </p:nvPr>
        </p:nvSpPr>
        <p:spPr>
          <a:xfrm>
            <a:off x="1119718" y="2743200"/>
            <a:ext cx="5242983" cy="5082117"/>
          </a:xfrm>
        </p:spPr>
        <p:txBody>
          <a:bodyPr/>
          <a:lstStyle>
            <a:lvl1pPr marL="0" indent="0">
              <a:buNone/>
              <a:defRPr sz="2133"/>
            </a:lvl1pPr>
            <a:lvl2pPr marL="609585" indent="0">
              <a:buNone/>
              <a:defRPr sz="1867"/>
            </a:lvl2pPr>
            <a:lvl3pPr marL="1219170" indent="0">
              <a:buNone/>
              <a:defRPr sz="1600"/>
            </a:lvl3pPr>
            <a:lvl4pPr marL="1828754" indent="0">
              <a:buNone/>
              <a:defRPr sz="1333"/>
            </a:lvl4pPr>
            <a:lvl5pPr marL="2438339" indent="0">
              <a:buNone/>
              <a:defRPr sz="1333"/>
            </a:lvl5pPr>
            <a:lvl6pPr marL="3047924" indent="0">
              <a:buNone/>
              <a:defRPr sz="1333"/>
            </a:lvl6pPr>
            <a:lvl7pPr marL="3657509" indent="0">
              <a:buNone/>
              <a:defRPr sz="1333"/>
            </a:lvl7pPr>
            <a:lvl8pPr marL="4267093" indent="0">
              <a:buNone/>
              <a:defRPr sz="1333"/>
            </a:lvl8pPr>
            <a:lvl9pPr marL="4876678" indent="0">
              <a:buNone/>
              <a:defRPr sz="1333"/>
            </a:lvl9pPr>
          </a:lstStyle>
          <a:p>
            <a:pPr lvl="0"/>
            <a:r>
              <a:rPr lang="en-US"/>
              <a:t>Click to edit Master text styles</a:t>
            </a:r>
          </a:p>
        </p:txBody>
      </p:sp>
      <p:sp>
        <p:nvSpPr>
          <p:cNvPr id="5" name="Date Placeholder 4"/>
          <p:cNvSpPr>
            <a:spLocks noGrp="1"/>
          </p:cNvSpPr>
          <p:nvPr>
            <p:ph type="dt" sz="half" idx="10"/>
          </p:nvPr>
        </p:nvSpPr>
        <p:spPr/>
        <p:txBody>
          <a:bodyPr/>
          <a:lstStyle/>
          <a:p>
            <a:fld id="{590FFAB3-A335-4529-AFC3-B463D2B06511}" type="datetimeFigureOut">
              <a:rPr lang="en-US" smtClean="0"/>
              <a:t>8/5/2026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62243FC-ADAE-4B98-88EB-D9784D386B4C}" type="slidenum">
              <a:rPr lang="en-US" smtClean="0"/>
              <a:t>‹#›</a:t>
            </a:fld>
            <a:endParaRPr lang="en-US"/>
          </a:p>
        </p:txBody>
      </p:sp>
    </p:spTree>
    <p:extLst>
      <p:ext uri="{BB962C8B-B14F-4D97-AF65-F5344CB8AC3E}">
        <p14:creationId xmlns:p14="http://schemas.microsoft.com/office/powerpoint/2010/main" val="3815093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0FFAB3-A335-4529-AFC3-B463D2B06511}" type="datetimeFigureOut">
              <a:rPr lang="en-US" smtClean="0"/>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2243FC-ADAE-4B98-88EB-D9784D386B4C}" type="slidenum">
              <a:rPr lang="en-US" smtClean="0"/>
              <a:t>‹#›</a:t>
            </a:fld>
            <a:endParaRPr lang="en-US"/>
          </a:p>
        </p:txBody>
      </p:sp>
    </p:spTree>
    <p:extLst>
      <p:ext uri="{BB962C8B-B14F-4D97-AF65-F5344CB8AC3E}">
        <p14:creationId xmlns:p14="http://schemas.microsoft.com/office/powerpoint/2010/main" val="19179789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633200" y="486834"/>
            <a:ext cx="3505200" cy="774911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17600" y="486834"/>
            <a:ext cx="10312400" cy="77491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0FFAB3-A335-4529-AFC3-B463D2B06511}" type="datetimeFigureOut">
              <a:rPr lang="en-US" smtClean="0"/>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2243FC-ADAE-4B98-88EB-D9784D386B4C}" type="slidenum">
              <a:rPr lang="en-US" smtClean="0"/>
              <a:t>‹#›</a:t>
            </a:fld>
            <a:endParaRPr lang="en-US"/>
          </a:p>
        </p:txBody>
      </p:sp>
    </p:spTree>
    <p:extLst>
      <p:ext uri="{BB962C8B-B14F-4D97-AF65-F5344CB8AC3E}">
        <p14:creationId xmlns:p14="http://schemas.microsoft.com/office/powerpoint/2010/main" val="4155437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17600" y="486834"/>
            <a:ext cx="14020800" cy="176741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17600" y="2434167"/>
            <a:ext cx="14020800" cy="580178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17600" y="8475134"/>
            <a:ext cx="3657600" cy="486833"/>
          </a:xfrm>
          <a:prstGeom prst="rect">
            <a:avLst/>
          </a:prstGeom>
        </p:spPr>
        <p:txBody>
          <a:bodyPr vert="horz" lIns="91440" tIns="45720" rIns="91440" bIns="45720" rtlCol="0" anchor="ctr"/>
          <a:lstStyle>
            <a:lvl1pPr algn="l">
              <a:defRPr sz="1600">
                <a:solidFill>
                  <a:schemeClr val="tx1">
                    <a:tint val="82000"/>
                  </a:schemeClr>
                </a:solidFill>
              </a:defRPr>
            </a:lvl1pPr>
          </a:lstStyle>
          <a:p>
            <a:fld id="{590FFAB3-A335-4529-AFC3-B463D2B06511}" type="datetimeFigureOut">
              <a:rPr lang="en-US" smtClean="0"/>
              <a:t>8/5/2026</a:t>
            </a:fld>
            <a:endParaRPr lang="en-US"/>
          </a:p>
        </p:txBody>
      </p:sp>
      <p:sp>
        <p:nvSpPr>
          <p:cNvPr id="5" name="Footer Placeholder 4"/>
          <p:cNvSpPr>
            <a:spLocks noGrp="1"/>
          </p:cNvSpPr>
          <p:nvPr>
            <p:ph type="ftr" sz="quarter" idx="3"/>
          </p:nvPr>
        </p:nvSpPr>
        <p:spPr>
          <a:xfrm>
            <a:off x="5384800" y="8475134"/>
            <a:ext cx="5486400" cy="486833"/>
          </a:xfrm>
          <a:prstGeom prst="rect">
            <a:avLst/>
          </a:prstGeom>
        </p:spPr>
        <p:txBody>
          <a:bodyPr vert="horz" lIns="91440" tIns="45720" rIns="91440" bIns="45720" rtlCol="0" anchor="ctr"/>
          <a:lstStyle>
            <a:lvl1pPr algn="ctr">
              <a:defRPr sz="16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11480800" y="8475134"/>
            <a:ext cx="3657600" cy="486833"/>
          </a:xfrm>
          <a:prstGeom prst="rect">
            <a:avLst/>
          </a:prstGeom>
        </p:spPr>
        <p:txBody>
          <a:bodyPr vert="horz" lIns="91440" tIns="45720" rIns="91440" bIns="45720" rtlCol="0" anchor="ctr"/>
          <a:lstStyle>
            <a:lvl1pPr algn="r">
              <a:defRPr sz="1600">
                <a:solidFill>
                  <a:schemeClr val="tx1">
                    <a:tint val="82000"/>
                  </a:schemeClr>
                </a:solidFill>
              </a:defRPr>
            </a:lvl1pPr>
          </a:lstStyle>
          <a:p>
            <a:fld id="{862243FC-ADAE-4B98-88EB-D9784D386B4C}" type="slidenum">
              <a:rPr lang="en-US" smtClean="0"/>
              <a:t>‹#›</a:t>
            </a:fld>
            <a:endParaRPr lang="en-US"/>
          </a:p>
        </p:txBody>
      </p:sp>
    </p:spTree>
    <p:extLst>
      <p:ext uri="{BB962C8B-B14F-4D97-AF65-F5344CB8AC3E}">
        <p14:creationId xmlns:p14="http://schemas.microsoft.com/office/powerpoint/2010/main" val="30256643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1219170" rtl="0" eaLnBrk="1" latinLnBrk="0" hangingPunct="1">
        <a:lnSpc>
          <a:spcPct val="90000"/>
        </a:lnSpc>
        <a:spcBef>
          <a:spcPct val="0"/>
        </a:spcBef>
        <a:buNone/>
        <a:defRPr sz="5867" kern="1200">
          <a:solidFill>
            <a:schemeClr val="tx1"/>
          </a:solidFill>
          <a:latin typeface="+mj-lt"/>
          <a:ea typeface="+mj-ea"/>
          <a:cs typeface="+mj-cs"/>
        </a:defRPr>
      </a:lvl1pPr>
    </p:titleStyle>
    <p:bodyStyle>
      <a:lvl1pPr marL="304792" indent="-304792" algn="l" defTabSz="1219170" rtl="0" eaLnBrk="1" latinLnBrk="0" hangingPunct="1">
        <a:lnSpc>
          <a:spcPct val="90000"/>
        </a:lnSpc>
        <a:spcBef>
          <a:spcPts val="1333"/>
        </a:spcBef>
        <a:buFont typeface="Arial" panose="020B0604020202020204" pitchFamily="34" charset="0"/>
        <a:buChar char="•"/>
        <a:defRPr sz="3733" kern="1200">
          <a:solidFill>
            <a:schemeClr val="tx1"/>
          </a:solidFill>
          <a:latin typeface="+mn-lt"/>
          <a:ea typeface="+mn-ea"/>
          <a:cs typeface="+mn-cs"/>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tx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tx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FB25984-9AC4-8A99-7272-DCFB945BA2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56" y="0"/>
            <a:ext cx="16242888" cy="9144000"/>
          </a:xfrm>
          <a:prstGeom prst="rect">
            <a:avLst/>
          </a:prstGeom>
        </p:spPr>
      </p:pic>
      <p:sp>
        <p:nvSpPr>
          <p:cNvPr id="4" name="Rectangle 3">
            <a:extLst>
              <a:ext uri="{FF2B5EF4-FFF2-40B4-BE49-F238E27FC236}">
                <a16:creationId xmlns:a16="http://schemas.microsoft.com/office/drawing/2014/main" id="{BD6418C3-3E3D-F973-0F8E-BCF2BBB5AD8B}"/>
              </a:ext>
            </a:extLst>
          </p:cNvPr>
          <p:cNvSpPr/>
          <p:nvPr/>
        </p:nvSpPr>
        <p:spPr>
          <a:xfrm>
            <a:off x="-14732" y="0"/>
            <a:ext cx="16285464" cy="9144000"/>
          </a:xfrm>
          <a:prstGeom prst="rect">
            <a:avLst/>
          </a:prstGeom>
          <a:gradFill flip="none" rotWithShape="1">
            <a:gsLst>
              <a:gs pos="50000">
                <a:srgbClr val="14262A">
                  <a:alpha val="91000"/>
                </a:srgbClr>
              </a:gs>
              <a:gs pos="0">
                <a:srgbClr val="14262A">
                  <a:alpha val="90000"/>
                </a:srgbClr>
              </a:gs>
              <a:gs pos="100000">
                <a:srgbClr val="14262A">
                  <a:alpha val="94902"/>
                </a:srgb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7772BAB4-74F4-16E9-6752-3E8E51628603}"/>
              </a:ext>
            </a:extLst>
          </p:cNvPr>
          <p:cNvSpPr txBox="1"/>
          <p:nvPr/>
        </p:nvSpPr>
        <p:spPr>
          <a:xfrm>
            <a:off x="2290187" y="3132948"/>
            <a:ext cx="12430142" cy="1015663"/>
          </a:xfrm>
          <a:prstGeom prst="rect">
            <a:avLst/>
          </a:prstGeom>
          <a:noFill/>
        </p:spPr>
        <p:txBody>
          <a:bodyPr wrap="square" rtlCol="0">
            <a:spAutoFit/>
          </a:bodyPr>
          <a:lstStyle/>
          <a:p>
            <a:pPr algn="ctr"/>
            <a:r>
              <a:rPr lang="en-US" sz="6000" b="1" dirty="0">
                <a:solidFill>
                  <a:schemeClr val="bg1"/>
                </a:solidFill>
                <a:latin typeface="Amasis MT Pro Light" panose="02040304050005020304" pitchFamily="18" charset="0"/>
              </a:rPr>
              <a:t>Telco Customer Churn Analysis</a:t>
            </a:r>
          </a:p>
        </p:txBody>
      </p:sp>
      <p:sp>
        <p:nvSpPr>
          <p:cNvPr id="10" name="Rectangle 9">
            <a:extLst>
              <a:ext uri="{FF2B5EF4-FFF2-40B4-BE49-F238E27FC236}">
                <a16:creationId xmlns:a16="http://schemas.microsoft.com/office/drawing/2014/main" id="{1209BBD8-3BDC-4A36-C248-B7D83467B8FF}"/>
              </a:ext>
            </a:extLst>
          </p:cNvPr>
          <p:cNvSpPr/>
          <p:nvPr/>
        </p:nvSpPr>
        <p:spPr>
          <a:xfrm rot="5400000" flipV="1">
            <a:off x="2760532" y="3572814"/>
            <a:ext cx="1015665" cy="135929"/>
          </a:xfrm>
          <a:prstGeom prst="rect">
            <a:avLst/>
          </a:prstGeom>
          <a:solidFill>
            <a:srgbClr val="5099AA">
              <a:alpha val="3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B062269-4350-A6D6-241C-45D9BBB5B66D}"/>
              </a:ext>
            </a:extLst>
          </p:cNvPr>
          <p:cNvSpPr/>
          <p:nvPr/>
        </p:nvSpPr>
        <p:spPr>
          <a:xfrm>
            <a:off x="6990182" y="4875305"/>
            <a:ext cx="1901952" cy="9144"/>
          </a:xfrm>
          <a:prstGeom prst="rect">
            <a:avLst/>
          </a:prstGeom>
          <a:solidFill>
            <a:schemeClr val="bg1">
              <a:lumMod val="85000"/>
              <a:alpha val="3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4FFE4CC4-9CE8-2E7D-CB1D-465980E868F6}"/>
              </a:ext>
            </a:extLst>
          </p:cNvPr>
          <p:cNvSpPr txBox="1"/>
          <p:nvPr/>
        </p:nvSpPr>
        <p:spPr>
          <a:xfrm>
            <a:off x="2200532" y="4450485"/>
            <a:ext cx="11841823" cy="338554"/>
          </a:xfrm>
          <a:prstGeom prst="rect">
            <a:avLst/>
          </a:prstGeom>
          <a:noFill/>
        </p:spPr>
        <p:txBody>
          <a:bodyPr wrap="square" rtlCol="0">
            <a:spAutoFit/>
          </a:bodyPr>
          <a:lstStyle/>
          <a:p>
            <a:pPr algn="ctr"/>
            <a:r>
              <a:rPr lang="en-US" sz="1600" dirty="0">
                <a:solidFill>
                  <a:schemeClr val="bg1"/>
                </a:solidFill>
                <a:latin typeface="Calibri Light" panose="020F0302020204030204" pitchFamily="34" charset="0"/>
                <a:ea typeface="Calibri Light" panose="020F0302020204030204" pitchFamily="34" charset="0"/>
                <a:cs typeface="Calibri Light" panose="020F0302020204030204" pitchFamily="34" charset="0"/>
              </a:rPr>
              <a:t>A Business Analytics Case Study</a:t>
            </a:r>
          </a:p>
        </p:txBody>
      </p:sp>
      <p:sp>
        <p:nvSpPr>
          <p:cNvPr id="13" name="TextBox 12">
            <a:extLst>
              <a:ext uri="{FF2B5EF4-FFF2-40B4-BE49-F238E27FC236}">
                <a16:creationId xmlns:a16="http://schemas.microsoft.com/office/drawing/2014/main" id="{F35BA75B-EFA2-D2A1-AAD2-87DC6220DE4A}"/>
              </a:ext>
            </a:extLst>
          </p:cNvPr>
          <p:cNvSpPr txBox="1"/>
          <p:nvPr/>
        </p:nvSpPr>
        <p:spPr>
          <a:xfrm>
            <a:off x="2750785" y="6141425"/>
            <a:ext cx="10754429" cy="369332"/>
          </a:xfrm>
          <a:prstGeom prst="rect">
            <a:avLst/>
          </a:prstGeom>
          <a:noFill/>
        </p:spPr>
        <p:txBody>
          <a:bodyPr wrap="square" rtlCol="0">
            <a:spAutoFit/>
          </a:bodyPr>
          <a:lstStyle/>
          <a:p>
            <a:pPr algn="ctr"/>
            <a:r>
              <a:rPr lang="en-US" dirty="0">
                <a:solidFill>
                  <a:schemeClr val="bg1"/>
                </a:solidFill>
                <a:latin typeface="Candara Light" panose="020E0502030303020204" pitchFamily="34" charset="0"/>
                <a:ea typeface="Calibri Light" panose="020F0302020204030204" pitchFamily="34" charset="0"/>
                <a:cs typeface="Calibri Light" panose="020F0302020204030204" pitchFamily="34" charset="0"/>
              </a:rPr>
              <a:t>AHANONU IMMANUEL | ANALYSTLAB AFRICA | WEEK 1</a:t>
            </a:r>
          </a:p>
        </p:txBody>
      </p:sp>
    </p:spTree>
    <p:extLst>
      <p:ext uri="{BB962C8B-B14F-4D97-AF65-F5344CB8AC3E}">
        <p14:creationId xmlns:p14="http://schemas.microsoft.com/office/powerpoint/2010/main" val="31135901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1EB"/>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F138FB7-9F29-B65E-2E10-1F58AB0A0DBE}"/>
              </a:ext>
            </a:extLst>
          </p:cNvPr>
          <p:cNvSpPr txBox="1"/>
          <p:nvPr/>
        </p:nvSpPr>
        <p:spPr>
          <a:xfrm>
            <a:off x="1547588" y="488549"/>
            <a:ext cx="4114800" cy="707886"/>
          </a:xfrm>
          <a:prstGeom prst="rect">
            <a:avLst/>
          </a:prstGeom>
          <a:noFill/>
        </p:spPr>
        <p:txBody>
          <a:bodyPr wrap="square" rtlCol="0">
            <a:spAutoFit/>
          </a:bodyPr>
          <a:lstStyle/>
          <a:p>
            <a:r>
              <a:rPr lang="en-US" sz="4000" dirty="0">
                <a:solidFill>
                  <a:srgbClr val="14262A"/>
                </a:solidFill>
                <a:latin typeface="Amasis MT Pro Light" panose="02040304050005020304" pitchFamily="18" charset="0"/>
              </a:rPr>
              <a:t>Table of Contents</a:t>
            </a:r>
          </a:p>
        </p:txBody>
      </p:sp>
      <p:sp>
        <p:nvSpPr>
          <p:cNvPr id="5" name="Rectangle 4">
            <a:extLst>
              <a:ext uri="{FF2B5EF4-FFF2-40B4-BE49-F238E27FC236}">
                <a16:creationId xmlns:a16="http://schemas.microsoft.com/office/drawing/2014/main" id="{10092EF7-4697-3B8A-85FC-1DF51257E280}"/>
              </a:ext>
            </a:extLst>
          </p:cNvPr>
          <p:cNvSpPr/>
          <p:nvPr/>
        </p:nvSpPr>
        <p:spPr>
          <a:xfrm rot="5400000" flipV="1">
            <a:off x="1128290" y="796772"/>
            <a:ext cx="574161" cy="91440"/>
          </a:xfrm>
          <a:prstGeom prst="rect">
            <a:avLst/>
          </a:prstGeom>
          <a:solidFill>
            <a:srgbClr val="5099AA"/>
          </a:solidFill>
          <a:ln>
            <a:noFill/>
          </a:ln>
          <a:effectLst>
            <a:outerShdw blurRad="50800" dist="38100" dir="2700000" algn="tl" rotWithShape="0">
              <a:prstClr val="black">
                <a:alpha val="16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4712859-B3C8-9EB2-72A5-DC86D0347146}"/>
              </a:ext>
            </a:extLst>
          </p:cNvPr>
          <p:cNvSpPr/>
          <p:nvPr/>
        </p:nvSpPr>
        <p:spPr>
          <a:xfrm rot="5400000" flipV="1">
            <a:off x="9932408" y="3791461"/>
            <a:ext cx="3271379" cy="6689127"/>
          </a:xfrm>
          <a:prstGeom prst="rect">
            <a:avLst/>
          </a:prstGeom>
          <a:solidFill>
            <a:srgbClr val="EDE8E0"/>
          </a:solidFill>
          <a:ln>
            <a:noFill/>
          </a:ln>
          <a:effectLst>
            <a:outerShdw blurRad="50800" dist="38100" dir="2700000" algn="tl" rotWithShape="0">
              <a:prstClr val="black">
                <a:alpha val="29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FE9B6DF-35F7-A19D-B92B-667FB85288F8}"/>
              </a:ext>
            </a:extLst>
          </p:cNvPr>
          <p:cNvSpPr/>
          <p:nvPr/>
        </p:nvSpPr>
        <p:spPr>
          <a:xfrm rot="5400000" flipV="1">
            <a:off x="3078525" y="3791462"/>
            <a:ext cx="3271379" cy="6689126"/>
          </a:xfrm>
          <a:prstGeom prst="rect">
            <a:avLst/>
          </a:prstGeom>
          <a:solidFill>
            <a:srgbClr val="EDE8E0"/>
          </a:solidFill>
          <a:ln>
            <a:noFill/>
          </a:ln>
          <a:effectLst>
            <a:outerShdw blurRad="50800" dist="38100" dir="2700000" algn="tl" rotWithShape="0">
              <a:prstClr val="black">
                <a:alpha val="29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53FFF210-731C-70B4-A0F3-2603E13BEE77}"/>
              </a:ext>
            </a:extLst>
          </p:cNvPr>
          <p:cNvSpPr/>
          <p:nvPr/>
        </p:nvSpPr>
        <p:spPr>
          <a:xfrm rot="5400000" flipV="1">
            <a:off x="3078525" y="331493"/>
            <a:ext cx="3271379" cy="6689126"/>
          </a:xfrm>
          <a:prstGeom prst="rect">
            <a:avLst/>
          </a:prstGeom>
          <a:solidFill>
            <a:srgbClr val="EDE8E0"/>
          </a:solidFill>
          <a:ln>
            <a:noFill/>
          </a:ln>
          <a:effectLst>
            <a:outerShdw blurRad="50800" dist="38100" dir="2700000" algn="tl" rotWithShape="0">
              <a:prstClr val="black">
                <a:alpha val="29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83AA26F4-ACBB-E97B-66FF-442652D76522}"/>
              </a:ext>
            </a:extLst>
          </p:cNvPr>
          <p:cNvSpPr/>
          <p:nvPr/>
        </p:nvSpPr>
        <p:spPr>
          <a:xfrm rot="5400000" flipV="1">
            <a:off x="9932409" y="331493"/>
            <a:ext cx="3271379" cy="6689126"/>
          </a:xfrm>
          <a:prstGeom prst="rect">
            <a:avLst/>
          </a:prstGeom>
          <a:solidFill>
            <a:srgbClr val="EDE8E0"/>
          </a:solidFill>
          <a:ln>
            <a:noFill/>
          </a:ln>
          <a:effectLst>
            <a:outerShdw blurRad="50800" dist="38100" dir="2700000" algn="tl" rotWithShape="0">
              <a:prstClr val="black">
                <a:alpha val="29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a:extLst>
              <a:ext uri="{FF2B5EF4-FFF2-40B4-BE49-F238E27FC236}">
                <a16:creationId xmlns:a16="http://schemas.microsoft.com/office/drawing/2014/main" id="{9694C94C-EBB2-8236-3C86-39AF73F28A7F}"/>
              </a:ext>
            </a:extLst>
          </p:cNvPr>
          <p:cNvSpPr txBox="1"/>
          <p:nvPr/>
        </p:nvSpPr>
        <p:spPr>
          <a:xfrm>
            <a:off x="1678576" y="2251036"/>
            <a:ext cx="1050320" cy="954107"/>
          </a:xfrm>
          <a:prstGeom prst="rect">
            <a:avLst/>
          </a:prstGeom>
          <a:noFill/>
        </p:spPr>
        <p:txBody>
          <a:bodyPr wrap="square" rtlCol="0">
            <a:spAutoFit/>
          </a:bodyPr>
          <a:lstStyle/>
          <a:p>
            <a:r>
              <a:rPr lang="en-US" sz="5600" b="1" dirty="0">
                <a:solidFill>
                  <a:srgbClr val="5099AA"/>
                </a:solidFill>
                <a:latin typeface="Oranienbaum" panose="02000506080000020003" pitchFamily="2" charset="0"/>
              </a:rPr>
              <a:t>01.</a:t>
            </a:r>
          </a:p>
        </p:txBody>
      </p:sp>
      <p:sp>
        <p:nvSpPr>
          <p:cNvPr id="18" name="TextBox 17">
            <a:extLst>
              <a:ext uri="{FF2B5EF4-FFF2-40B4-BE49-F238E27FC236}">
                <a16:creationId xmlns:a16="http://schemas.microsoft.com/office/drawing/2014/main" id="{C218B734-8DC8-FB91-9B8D-FEDC18ED89BE}"/>
              </a:ext>
            </a:extLst>
          </p:cNvPr>
          <p:cNvSpPr txBox="1"/>
          <p:nvPr/>
        </p:nvSpPr>
        <p:spPr>
          <a:xfrm>
            <a:off x="1888639" y="3245169"/>
            <a:ext cx="2872251" cy="430887"/>
          </a:xfrm>
          <a:prstGeom prst="rect">
            <a:avLst/>
          </a:prstGeom>
          <a:noFill/>
        </p:spPr>
        <p:txBody>
          <a:bodyPr wrap="square" rtlCol="0">
            <a:spAutoFit/>
          </a:bodyPr>
          <a:lstStyle/>
          <a:p>
            <a:r>
              <a:rPr lang="en-US" sz="2200" b="1" dirty="0">
                <a:solidFill>
                  <a:srgbClr val="14262A"/>
                </a:solidFill>
                <a:latin typeface="Amasis MT Pro Light" panose="02040304050005020304" pitchFamily="18" charset="0"/>
              </a:rPr>
              <a:t>Organizational Context</a:t>
            </a:r>
          </a:p>
        </p:txBody>
      </p:sp>
      <p:sp>
        <p:nvSpPr>
          <p:cNvPr id="20" name="Rectangle 19">
            <a:extLst>
              <a:ext uri="{FF2B5EF4-FFF2-40B4-BE49-F238E27FC236}">
                <a16:creationId xmlns:a16="http://schemas.microsoft.com/office/drawing/2014/main" id="{5EC58646-4FE7-B425-1D22-56EA6C14BC1D}"/>
              </a:ext>
            </a:extLst>
          </p:cNvPr>
          <p:cNvSpPr/>
          <p:nvPr/>
        </p:nvSpPr>
        <p:spPr>
          <a:xfrm rot="5400000" flipV="1">
            <a:off x="1698014" y="3411959"/>
            <a:ext cx="335532" cy="45720"/>
          </a:xfrm>
          <a:prstGeom prst="rect">
            <a:avLst/>
          </a:prstGeom>
          <a:solidFill>
            <a:srgbClr val="5099AA"/>
          </a:solidFill>
          <a:ln>
            <a:noFill/>
          </a:ln>
          <a:effectLst>
            <a:outerShdw blurRad="50800" dist="38100" dir="2700000" algn="tl" rotWithShape="0">
              <a:prstClr val="black">
                <a:alpha val="16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FF008EB8-48C5-F2A8-5BDD-5C32E3CB521B}"/>
              </a:ext>
            </a:extLst>
          </p:cNvPr>
          <p:cNvSpPr txBox="1"/>
          <p:nvPr/>
        </p:nvSpPr>
        <p:spPr>
          <a:xfrm>
            <a:off x="8521470" y="2251036"/>
            <a:ext cx="1050320" cy="954107"/>
          </a:xfrm>
          <a:prstGeom prst="rect">
            <a:avLst/>
          </a:prstGeom>
          <a:noFill/>
        </p:spPr>
        <p:txBody>
          <a:bodyPr wrap="square" rtlCol="0">
            <a:spAutoFit/>
          </a:bodyPr>
          <a:lstStyle/>
          <a:p>
            <a:r>
              <a:rPr lang="en-US" sz="5600" b="1" dirty="0">
                <a:solidFill>
                  <a:srgbClr val="5099AA"/>
                </a:solidFill>
                <a:latin typeface="Oranienbaum" panose="02000506080000020003" pitchFamily="2" charset="0"/>
              </a:rPr>
              <a:t>02.</a:t>
            </a:r>
          </a:p>
        </p:txBody>
      </p:sp>
      <p:sp>
        <p:nvSpPr>
          <p:cNvPr id="23" name="TextBox 22">
            <a:extLst>
              <a:ext uri="{FF2B5EF4-FFF2-40B4-BE49-F238E27FC236}">
                <a16:creationId xmlns:a16="http://schemas.microsoft.com/office/drawing/2014/main" id="{A13D6BD2-E1FA-4F10-39D5-2D667FBA8D0C}"/>
              </a:ext>
            </a:extLst>
          </p:cNvPr>
          <p:cNvSpPr txBox="1"/>
          <p:nvPr/>
        </p:nvSpPr>
        <p:spPr>
          <a:xfrm>
            <a:off x="8731534" y="3245169"/>
            <a:ext cx="2718484" cy="430887"/>
          </a:xfrm>
          <a:prstGeom prst="rect">
            <a:avLst/>
          </a:prstGeom>
          <a:noFill/>
        </p:spPr>
        <p:txBody>
          <a:bodyPr wrap="square" rtlCol="0">
            <a:spAutoFit/>
          </a:bodyPr>
          <a:lstStyle/>
          <a:p>
            <a:r>
              <a:rPr lang="en-US" sz="2200" b="1" dirty="0">
                <a:solidFill>
                  <a:srgbClr val="14262A"/>
                </a:solidFill>
                <a:latin typeface="Amasis MT Pro Light" panose="02040304050005020304" pitchFamily="18" charset="0"/>
              </a:rPr>
              <a:t>Data &amp; Methodology</a:t>
            </a:r>
          </a:p>
        </p:txBody>
      </p:sp>
      <p:sp>
        <p:nvSpPr>
          <p:cNvPr id="24" name="Rectangle 23">
            <a:extLst>
              <a:ext uri="{FF2B5EF4-FFF2-40B4-BE49-F238E27FC236}">
                <a16:creationId xmlns:a16="http://schemas.microsoft.com/office/drawing/2014/main" id="{E39546EC-CE09-54DA-E9D0-B4BF3ED177F3}"/>
              </a:ext>
            </a:extLst>
          </p:cNvPr>
          <p:cNvSpPr/>
          <p:nvPr/>
        </p:nvSpPr>
        <p:spPr>
          <a:xfrm rot="5400000" flipV="1">
            <a:off x="8540908" y="3411959"/>
            <a:ext cx="335532" cy="45720"/>
          </a:xfrm>
          <a:prstGeom prst="rect">
            <a:avLst/>
          </a:prstGeom>
          <a:solidFill>
            <a:srgbClr val="5099AA"/>
          </a:solidFill>
          <a:ln>
            <a:noFill/>
          </a:ln>
          <a:effectLst>
            <a:outerShdw blurRad="50800" dist="38100" dir="2700000" algn="tl" rotWithShape="0">
              <a:prstClr val="black">
                <a:alpha val="16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543831DA-468D-C411-5225-BD4BEA6B6989}"/>
              </a:ext>
            </a:extLst>
          </p:cNvPr>
          <p:cNvSpPr txBox="1"/>
          <p:nvPr/>
        </p:nvSpPr>
        <p:spPr>
          <a:xfrm>
            <a:off x="1678576" y="5657679"/>
            <a:ext cx="1050320" cy="954107"/>
          </a:xfrm>
          <a:prstGeom prst="rect">
            <a:avLst/>
          </a:prstGeom>
          <a:noFill/>
        </p:spPr>
        <p:txBody>
          <a:bodyPr wrap="square" rtlCol="0">
            <a:spAutoFit/>
          </a:bodyPr>
          <a:lstStyle/>
          <a:p>
            <a:r>
              <a:rPr lang="en-US" sz="5600" b="1" dirty="0">
                <a:solidFill>
                  <a:srgbClr val="5099AA"/>
                </a:solidFill>
                <a:latin typeface="Oranienbaum" panose="02000506080000020003" pitchFamily="2" charset="0"/>
              </a:rPr>
              <a:t>03.</a:t>
            </a:r>
          </a:p>
        </p:txBody>
      </p:sp>
      <p:sp>
        <p:nvSpPr>
          <p:cNvPr id="26" name="TextBox 25">
            <a:extLst>
              <a:ext uri="{FF2B5EF4-FFF2-40B4-BE49-F238E27FC236}">
                <a16:creationId xmlns:a16="http://schemas.microsoft.com/office/drawing/2014/main" id="{078FECD2-3348-945D-1AF1-BF11668E8614}"/>
              </a:ext>
            </a:extLst>
          </p:cNvPr>
          <p:cNvSpPr txBox="1"/>
          <p:nvPr/>
        </p:nvSpPr>
        <p:spPr>
          <a:xfrm>
            <a:off x="1888640" y="6651812"/>
            <a:ext cx="2718484" cy="430887"/>
          </a:xfrm>
          <a:prstGeom prst="rect">
            <a:avLst/>
          </a:prstGeom>
          <a:noFill/>
        </p:spPr>
        <p:txBody>
          <a:bodyPr wrap="square" rtlCol="0">
            <a:spAutoFit/>
          </a:bodyPr>
          <a:lstStyle/>
          <a:p>
            <a:r>
              <a:rPr lang="en-US" sz="2200" b="1" dirty="0">
                <a:solidFill>
                  <a:srgbClr val="14262A"/>
                </a:solidFill>
                <a:latin typeface="Amasis MT Pro Light" panose="02040304050005020304" pitchFamily="18" charset="0"/>
              </a:rPr>
              <a:t>Key Findings</a:t>
            </a:r>
          </a:p>
        </p:txBody>
      </p:sp>
      <p:sp>
        <p:nvSpPr>
          <p:cNvPr id="27" name="Rectangle 26">
            <a:extLst>
              <a:ext uri="{FF2B5EF4-FFF2-40B4-BE49-F238E27FC236}">
                <a16:creationId xmlns:a16="http://schemas.microsoft.com/office/drawing/2014/main" id="{02D29545-8FB2-8509-3E0B-FA97B8A30636}"/>
              </a:ext>
            </a:extLst>
          </p:cNvPr>
          <p:cNvSpPr/>
          <p:nvPr/>
        </p:nvSpPr>
        <p:spPr>
          <a:xfrm rot="5400000" flipV="1">
            <a:off x="1698014" y="6818602"/>
            <a:ext cx="335532" cy="45720"/>
          </a:xfrm>
          <a:prstGeom prst="rect">
            <a:avLst/>
          </a:prstGeom>
          <a:solidFill>
            <a:srgbClr val="5099AA"/>
          </a:solidFill>
          <a:ln>
            <a:noFill/>
          </a:ln>
          <a:effectLst>
            <a:outerShdw blurRad="50800" dist="38100" dir="2700000" algn="tl" rotWithShape="0">
              <a:prstClr val="black">
                <a:alpha val="16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1D453F91-7C10-F9B2-5F4A-9D3E14A912AF}"/>
              </a:ext>
            </a:extLst>
          </p:cNvPr>
          <p:cNvSpPr txBox="1"/>
          <p:nvPr/>
        </p:nvSpPr>
        <p:spPr>
          <a:xfrm>
            <a:off x="8521470" y="5584208"/>
            <a:ext cx="1188994" cy="954107"/>
          </a:xfrm>
          <a:prstGeom prst="rect">
            <a:avLst/>
          </a:prstGeom>
          <a:noFill/>
        </p:spPr>
        <p:txBody>
          <a:bodyPr wrap="square" rtlCol="0">
            <a:spAutoFit/>
          </a:bodyPr>
          <a:lstStyle/>
          <a:p>
            <a:r>
              <a:rPr lang="en-US" sz="5600" b="1" dirty="0">
                <a:solidFill>
                  <a:srgbClr val="5099AA"/>
                </a:solidFill>
                <a:latin typeface="Oranienbaum" panose="02000506080000020003" pitchFamily="2" charset="0"/>
              </a:rPr>
              <a:t>04.</a:t>
            </a:r>
          </a:p>
        </p:txBody>
      </p:sp>
      <p:sp>
        <p:nvSpPr>
          <p:cNvPr id="29" name="TextBox 28">
            <a:extLst>
              <a:ext uri="{FF2B5EF4-FFF2-40B4-BE49-F238E27FC236}">
                <a16:creationId xmlns:a16="http://schemas.microsoft.com/office/drawing/2014/main" id="{A7B81C27-D5CB-8EF2-F759-C5F0A952DBEC}"/>
              </a:ext>
            </a:extLst>
          </p:cNvPr>
          <p:cNvSpPr txBox="1"/>
          <p:nvPr/>
        </p:nvSpPr>
        <p:spPr>
          <a:xfrm>
            <a:off x="8731533" y="6578341"/>
            <a:ext cx="3512065" cy="430887"/>
          </a:xfrm>
          <a:prstGeom prst="rect">
            <a:avLst/>
          </a:prstGeom>
          <a:noFill/>
        </p:spPr>
        <p:txBody>
          <a:bodyPr wrap="square" rtlCol="0">
            <a:spAutoFit/>
          </a:bodyPr>
          <a:lstStyle/>
          <a:p>
            <a:r>
              <a:rPr lang="en-US" sz="2200" b="1" dirty="0">
                <a:solidFill>
                  <a:srgbClr val="14262A"/>
                </a:solidFill>
                <a:latin typeface="Amasis MT Pro Light" panose="02040304050005020304" pitchFamily="18" charset="0"/>
              </a:rPr>
              <a:t>Practical Recommendations</a:t>
            </a:r>
          </a:p>
        </p:txBody>
      </p:sp>
      <p:sp>
        <p:nvSpPr>
          <p:cNvPr id="30" name="Rectangle 29">
            <a:extLst>
              <a:ext uri="{FF2B5EF4-FFF2-40B4-BE49-F238E27FC236}">
                <a16:creationId xmlns:a16="http://schemas.microsoft.com/office/drawing/2014/main" id="{EF47BF9B-4191-0654-9DB8-A7B1ED617718}"/>
              </a:ext>
            </a:extLst>
          </p:cNvPr>
          <p:cNvSpPr/>
          <p:nvPr/>
        </p:nvSpPr>
        <p:spPr>
          <a:xfrm rot="5400000" flipV="1">
            <a:off x="8540908" y="6745131"/>
            <a:ext cx="335532" cy="45720"/>
          </a:xfrm>
          <a:prstGeom prst="rect">
            <a:avLst/>
          </a:prstGeom>
          <a:solidFill>
            <a:srgbClr val="5099AA"/>
          </a:solidFill>
          <a:ln>
            <a:noFill/>
          </a:ln>
          <a:effectLst>
            <a:outerShdw blurRad="50800" dist="38100" dir="2700000" algn="tl" rotWithShape="0">
              <a:prstClr val="black">
                <a:alpha val="16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4DF97408-D2C5-029B-0976-69D947C2C0CC}"/>
              </a:ext>
            </a:extLst>
          </p:cNvPr>
          <p:cNvSpPr txBox="1"/>
          <p:nvPr/>
        </p:nvSpPr>
        <p:spPr>
          <a:xfrm>
            <a:off x="1865780" y="3882715"/>
            <a:ext cx="4862317" cy="705258"/>
          </a:xfrm>
          <a:prstGeom prst="rect">
            <a:avLst/>
          </a:prstGeom>
          <a:noFill/>
        </p:spPr>
        <p:txBody>
          <a:bodyPr wrap="square" rtlCol="0">
            <a:spAutoFit/>
          </a:bodyPr>
          <a:lstStyle/>
          <a:p>
            <a:pPr algn="l">
              <a:lnSpc>
                <a:spcPct val="150000"/>
              </a:lnSpc>
            </a:pPr>
            <a:r>
              <a:rPr lang="en-US" sz="1400" dirty="0">
                <a:solidFill>
                  <a:srgbClr val="5A6B7C"/>
                </a:solidFill>
                <a:latin typeface="Amasis MT Pro Light" panose="02040304050005020304" pitchFamily="18" charset="0"/>
                <a:ea typeface="Calibri Light" panose="020F0302020204030204" pitchFamily="34" charset="0"/>
                <a:cs typeface="Calibri Light" panose="020F0302020204030204" pitchFamily="34" charset="0"/>
              </a:rPr>
              <a:t>Framing the customer retention problem and setting analytical goals.</a:t>
            </a:r>
          </a:p>
        </p:txBody>
      </p:sp>
      <p:sp>
        <p:nvSpPr>
          <p:cNvPr id="35" name="TextBox 34">
            <a:extLst>
              <a:ext uri="{FF2B5EF4-FFF2-40B4-BE49-F238E27FC236}">
                <a16:creationId xmlns:a16="http://schemas.microsoft.com/office/drawing/2014/main" id="{9A70C6BF-385B-3B2C-7F1A-54C138958765}"/>
              </a:ext>
            </a:extLst>
          </p:cNvPr>
          <p:cNvSpPr txBox="1"/>
          <p:nvPr/>
        </p:nvSpPr>
        <p:spPr>
          <a:xfrm>
            <a:off x="8731533" y="3882716"/>
            <a:ext cx="5250937" cy="708271"/>
          </a:xfrm>
          <a:prstGeom prst="rect">
            <a:avLst/>
          </a:prstGeom>
          <a:noFill/>
        </p:spPr>
        <p:txBody>
          <a:bodyPr wrap="square" rtlCol="0">
            <a:spAutoFit/>
          </a:bodyPr>
          <a:lstStyle/>
          <a:p>
            <a:pPr algn="l">
              <a:lnSpc>
                <a:spcPct val="150000"/>
              </a:lnSpc>
            </a:pPr>
            <a:r>
              <a:rPr lang="en-US" sz="1400" dirty="0">
                <a:solidFill>
                  <a:srgbClr val="5A6B7C"/>
                </a:solidFill>
                <a:latin typeface="Amasis MT Pro Light" panose="02040304050005020304" pitchFamily="18" charset="0"/>
                <a:ea typeface="Quattrocento Sans" pitchFamily="34" charset="-122"/>
                <a:cs typeface="Quattrocento Sans" pitchFamily="34" charset="-120"/>
              </a:rPr>
              <a:t>Data description, analytical approach, and methods for uncovering drivers of churn.</a:t>
            </a:r>
            <a:endParaRPr lang="en-US" sz="1400" dirty="0">
              <a:latin typeface="Amasis MT Pro Light" panose="02040304050005020304" pitchFamily="18" charset="0"/>
            </a:endParaRPr>
          </a:p>
        </p:txBody>
      </p:sp>
      <p:sp>
        <p:nvSpPr>
          <p:cNvPr id="36" name="TextBox 35">
            <a:extLst>
              <a:ext uri="{FF2B5EF4-FFF2-40B4-BE49-F238E27FC236}">
                <a16:creationId xmlns:a16="http://schemas.microsoft.com/office/drawing/2014/main" id="{11517732-D0A3-395E-FD00-78508C8604B1}"/>
              </a:ext>
            </a:extLst>
          </p:cNvPr>
          <p:cNvSpPr txBox="1"/>
          <p:nvPr/>
        </p:nvSpPr>
        <p:spPr>
          <a:xfrm>
            <a:off x="1888640" y="7273712"/>
            <a:ext cx="5250937" cy="385105"/>
          </a:xfrm>
          <a:prstGeom prst="rect">
            <a:avLst/>
          </a:prstGeom>
          <a:noFill/>
        </p:spPr>
        <p:txBody>
          <a:bodyPr wrap="square" rtlCol="0">
            <a:spAutoFit/>
          </a:bodyPr>
          <a:lstStyle/>
          <a:p>
            <a:pPr algn="l">
              <a:lnSpc>
                <a:spcPct val="150000"/>
              </a:lnSpc>
            </a:pPr>
            <a:r>
              <a:rPr lang="en-US" sz="1400" dirty="0">
                <a:solidFill>
                  <a:srgbClr val="5A6B7C"/>
                </a:solidFill>
                <a:latin typeface="Amasis MT Pro Light" panose="02040304050005020304" pitchFamily="18" charset="0"/>
                <a:ea typeface="Quattrocento Sans" pitchFamily="34" charset="-122"/>
                <a:cs typeface="Quattrocento Sans" pitchFamily="34" charset="-120"/>
              </a:rPr>
              <a:t>Data-driven findings from a comprehensive churn investigation.</a:t>
            </a:r>
            <a:endParaRPr lang="en-US" sz="1400" dirty="0">
              <a:latin typeface="Amasis MT Pro Light" panose="02040304050005020304" pitchFamily="18" charset="0"/>
            </a:endParaRPr>
          </a:p>
        </p:txBody>
      </p:sp>
      <p:sp>
        <p:nvSpPr>
          <p:cNvPr id="37" name="TextBox 36">
            <a:extLst>
              <a:ext uri="{FF2B5EF4-FFF2-40B4-BE49-F238E27FC236}">
                <a16:creationId xmlns:a16="http://schemas.microsoft.com/office/drawing/2014/main" id="{16E31FCD-7524-F9DB-306A-9619BBC3DB6A}"/>
              </a:ext>
            </a:extLst>
          </p:cNvPr>
          <p:cNvSpPr txBox="1"/>
          <p:nvPr/>
        </p:nvSpPr>
        <p:spPr>
          <a:xfrm>
            <a:off x="8731533" y="7218935"/>
            <a:ext cx="5250937" cy="708271"/>
          </a:xfrm>
          <a:prstGeom prst="rect">
            <a:avLst/>
          </a:prstGeom>
          <a:noFill/>
        </p:spPr>
        <p:txBody>
          <a:bodyPr wrap="square" rtlCol="0">
            <a:spAutoFit/>
          </a:bodyPr>
          <a:lstStyle/>
          <a:p>
            <a:pPr algn="l">
              <a:lnSpc>
                <a:spcPct val="150000"/>
              </a:lnSpc>
            </a:pPr>
            <a:r>
              <a:rPr lang="en-US" sz="1400" dirty="0">
                <a:solidFill>
                  <a:srgbClr val="5A6B7C"/>
                </a:solidFill>
                <a:latin typeface="Amasis MT Pro Light" panose="02040304050005020304" pitchFamily="18" charset="0"/>
                <a:ea typeface="Quattrocento Sans" pitchFamily="34" charset="-122"/>
                <a:cs typeface="Quattrocento Sans" pitchFamily="34" charset="-120"/>
              </a:rPr>
              <a:t>Strategic recommendations for reducing churn and improving customer loyalty through data-driven insights.</a:t>
            </a:r>
            <a:endParaRPr lang="en-US" sz="1400" dirty="0">
              <a:latin typeface="Amasis MT Pro Light" panose="02040304050005020304" pitchFamily="18" charset="0"/>
            </a:endParaRPr>
          </a:p>
        </p:txBody>
      </p:sp>
    </p:spTree>
    <p:extLst>
      <p:ext uri="{BB962C8B-B14F-4D97-AF65-F5344CB8AC3E}">
        <p14:creationId xmlns:p14="http://schemas.microsoft.com/office/powerpoint/2010/main" val="33692541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FB25984-9AC4-8A99-7272-DCFB945BA2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56" y="0"/>
            <a:ext cx="16242888" cy="9144000"/>
          </a:xfrm>
          <a:prstGeom prst="rect">
            <a:avLst/>
          </a:prstGeom>
        </p:spPr>
      </p:pic>
      <p:sp>
        <p:nvSpPr>
          <p:cNvPr id="4" name="Rectangle 3">
            <a:extLst>
              <a:ext uri="{FF2B5EF4-FFF2-40B4-BE49-F238E27FC236}">
                <a16:creationId xmlns:a16="http://schemas.microsoft.com/office/drawing/2014/main" id="{BD6418C3-3E3D-F973-0F8E-BCF2BBB5AD8B}"/>
              </a:ext>
            </a:extLst>
          </p:cNvPr>
          <p:cNvSpPr/>
          <p:nvPr/>
        </p:nvSpPr>
        <p:spPr>
          <a:xfrm>
            <a:off x="-14732" y="0"/>
            <a:ext cx="16285464" cy="9144000"/>
          </a:xfrm>
          <a:prstGeom prst="rect">
            <a:avLst/>
          </a:prstGeom>
          <a:gradFill flip="none" rotWithShape="1">
            <a:gsLst>
              <a:gs pos="50000">
                <a:srgbClr val="14262A">
                  <a:alpha val="91000"/>
                </a:srgbClr>
              </a:gs>
              <a:gs pos="0">
                <a:srgbClr val="14262A">
                  <a:alpha val="90000"/>
                </a:srgbClr>
              </a:gs>
              <a:gs pos="100000">
                <a:srgbClr val="14262A">
                  <a:alpha val="94902"/>
                </a:srgb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7772BAB4-74F4-16E9-6752-3E8E51628603}"/>
              </a:ext>
            </a:extLst>
          </p:cNvPr>
          <p:cNvSpPr txBox="1"/>
          <p:nvPr/>
        </p:nvSpPr>
        <p:spPr>
          <a:xfrm>
            <a:off x="3336329" y="3132948"/>
            <a:ext cx="1358493" cy="1015663"/>
          </a:xfrm>
          <a:prstGeom prst="rect">
            <a:avLst/>
          </a:prstGeom>
          <a:noFill/>
        </p:spPr>
        <p:txBody>
          <a:bodyPr wrap="square" rtlCol="0">
            <a:spAutoFit/>
          </a:bodyPr>
          <a:lstStyle/>
          <a:p>
            <a:pPr algn="ctr"/>
            <a:r>
              <a:rPr lang="en-US" sz="6000" b="1" dirty="0">
                <a:solidFill>
                  <a:srgbClr val="5099AA"/>
                </a:solidFill>
                <a:latin typeface="Oranienbaum" panose="02000506080000020003" pitchFamily="2" charset="0"/>
              </a:rPr>
              <a:t>01.</a:t>
            </a:r>
          </a:p>
        </p:txBody>
      </p:sp>
      <p:sp>
        <p:nvSpPr>
          <p:cNvPr id="10" name="Rectangle 9">
            <a:extLst>
              <a:ext uri="{FF2B5EF4-FFF2-40B4-BE49-F238E27FC236}">
                <a16:creationId xmlns:a16="http://schemas.microsoft.com/office/drawing/2014/main" id="{1209BBD8-3BDC-4A36-C248-B7D83467B8FF}"/>
              </a:ext>
            </a:extLst>
          </p:cNvPr>
          <p:cNvSpPr/>
          <p:nvPr/>
        </p:nvSpPr>
        <p:spPr>
          <a:xfrm flipV="1">
            <a:off x="3679158" y="4124370"/>
            <a:ext cx="719848" cy="118872"/>
          </a:xfrm>
          <a:prstGeom prst="rect">
            <a:avLst/>
          </a:prstGeom>
          <a:solidFill>
            <a:srgbClr val="5099AA">
              <a:alpha val="3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650BF5B6-C788-121F-49FF-3EC510C9719E}"/>
              </a:ext>
            </a:extLst>
          </p:cNvPr>
          <p:cNvSpPr txBox="1"/>
          <p:nvPr/>
        </p:nvSpPr>
        <p:spPr>
          <a:xfrm>
            <a:off x="3740237" y="4351956"/>
            <a:ext cx="5159632" cy="707886"/>
          </a:xfrm>
          <a:prstGeom prst="rect">
            <a:avLst/>
          </a:prstGeom>
          <a:noFill/>
        </p:spPr>
        <p:txBody>
          <a:bodyPr wrap="square" rtlCol="0">
            <a:spAutoFit/>
          </a:bodyPr>
          <a:lstStyle/>
          <a:p>
            <a:pPr algn="ctr"/>
            <a:r>
              <a:rPr lang="en-US" sz="4000" b="1" dirty="0">
                <a:solidFill>
                  <a:schemeClr val="bg1"/>
                </a:solidFill>
                <a:latin typeface="Amasis MT Pro Light" panose="02040304050005020304" pitchFamily="18" charset="0"/>
              </a:rPr>
              <a:t>Organizational Context</a:t>
            </a:r>
          </a:p>
        </p:txBody>
      </p:sp>
      <p:sp>
        <p:nvSpPr>
          <p:cNvPr id="6" name="TextBox 5">
            <a:extLst>
              <a:ext uri="{FF2B5EF4-FFF2-40B4-BE49-F238E27FC236}">
                <a16:creationId xmlns:a16="http://schemas.microsoft.com/office/drawing/2014/main" id="{3A355001-5CAC-94C0-4695-11FEDC2246D0}"/>
              </a:ext>
            </a:extLst>
          </p:cNvPr>
          <p:cNvSpPr txBox="1"/>
          <p:nvPr/>
        </p:nvSpPr>
        <p:spPr>
          <a:xfrm>
            <a:off x="3929078" y="5059842"/>
            <a:ext cx="5159632" cy="880369"/>
          </a:xfrm>
          <a:prstGeom prst="rect">
            <a:avLst/>
          </a:prstGeom>
          <a:noFill/>
        </p:spPr>
        <p:txBody>
          <a:bodyPr wrap="square" rtlCol="0">
            <a:spAutoFit/>
          </a:bodyPr>
          <a:lstStyle/>
          <a:p>
            <a:pPr algn="l">
              <a:lnSpc>
                <a:spcPct val="150000"/>
              </a:lnSpc>
            </a:pPr>
            <a:r>
              <a:rPr lang="en-US" dirty="0">
                <a:solidFill>
                  <a:schemeClr val="bg1"/>
                </a:solidFill>
                <a:latin typeface="Calibri Light" panose="020F0302020204030204" pitchFamily="34" charset="0"/>
                <a:ea typeface="Calibri Light" panose="020F0302020204030204" pitchFamily="34" charset="0"/>
                <a:cs typeface="Calibri Light" panose="020F0302020204030204" pitchFamily="34" charset="0"/>
              </a:rPr>
              <a:t>Framing the customer retention problem and setting analytical goals.</a:t>
            </a:r>
          </a:p>
        </p:txBody>
      </p:sp>
      <p:sp>
        <p:nvSpPr>
          <p:cNvPr id="7" name="Rectangle 6">
            <a:extLst>
              <a:ext uri="{FF2B5EF4-FFF2-40B4-BE49-F238E27FC236}">
                <a16:creationId xmlns:a16="http://schemas.microsoft.com/office/drawing/2014/main" id="{9DF7F4C1-BC91-0623-E5D5-F1560E10DA07}"/>
              </a:ext>
            </a:extLst>
          </p:cNvPr>
          <p:cNvSpPr/>
          <p:nvPr/>
        </p:nvSpPr>
        <p:spPr>
          <a:xfrm rot="5400000" flipV="1">
            <a:off x="3444099" y="4591887"/>
            <a:ext cx="592277" cy="122167"/>
          </a:xfrm>
          <a:prstGeom prst="rect">
            <a:avLst/>
          </a:prstGeom>
          <a:solidFill>
            <a:srgbClr val="5099AA">
              <a:alpha val="3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761333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1EB"/>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F138FB7-9F29-B65E-2E10-1F58AB0A0DBE}"/>
              </a:ext>
            </a:extLst>
          </p:cNvPr>
          <p:cNvSpPr txBox="1"/>
          <p:nvPr/>
        </p:nvSpPr>
        <p:spPr>
          <a:xfrm>
            <a:off x="1658571" y="615256"/>
            <a:ext cx="8909221" cy="707886"/>
          </a:xfrm>
          <a:prstGeom prst="rect">
            <a:avLst/>
          </a:prstGeom>
          <a:noFill/>
        </p:spPr>
        <p:txBody>
          <a:bodyPr wrap="square" rtlCol="0">
            <a:spAutoFit/>
          </a:bodyPr>
          <a:lstStyle/>
          <a:p>
            <a:r>
              <a:rPr lang="en-US" sz="4000" dirty="0">
                <a:solidFill>
                  <a:srgbClr val="14262A"/>
                </a:solidFill>
                <a:latin typeface="Amasis MT Pro Light" panose="02040304050005020304" pitchFamily="18" charset="0"/>
              </a:rPr>
              <a:t>Why Should Stakeholders be Concerned?</a:t>
            </a:r>
          </a:p>
        </p:txBody>
      </p:sp>
      <p:sp>
        <p:nvSpPr>
          <p:cNvPr id="5" name="Rectangle 4">
            <a:extLst>
              <a:ext uri="{FF2B5EF4-FFF2-40B4-BE49-F238E27FC236}">
                <a16:creationId xmlns:a16="http://schemas.microsoft.com/office/drawing/2014/main" id="{10092EF7-4697-3B8A-85FC-1DF51257E280}"/>
              </a:ext>
            </a:extLst>
          </p:cNvPr>
          <p:cNvSpPr/>
          <p:nvPr/>
        </p:nvSpPr>
        <p:spPr>
          <a:xfrm rot="5400000" flipV="1">
            <a:off x="1239274" y="923479"/>
            <a:ext cx="574161" cy="91440"/>
          </a:xfrm>
          <a:prstGeom prst="rect">
            <a:avLst/>
          </a:prstGeom>
          <a:solidFill>
            <a:srgbClr val="5099AA"/>
          </a:solidFill>
          <a:ln>
            <a:noFill/>
          </a:ln>
          <a:effectLst>
            <a:outerShdw blurRad="508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D4555113-FD24-9182-9529-82F61A808556}"/>
              </a:ext>
            </a:extLst>
          </p:cNvPr>
          <p:cNvSpPr txBox="1"/>
          <p:nvPr/>
        </p:nvSpPr>
        <p:spPr>
          <a:xfrm>
            <a:off x="1480634" y="1715509"/>
            <a:ext cx="2998985" cy="338554"/>
          </a:xfrm>
          <a:prstGeom prst="rect">
            <a:avLst/>
          </a:prstGeom>
          <a:noFill/>
        </p:spPr>
        <p:txBody>
          <a:bodyPr wrap="square" rtlCol="0">
            <a:spAutoFit/>
          </a:bodyPr>
          <a:lstStyle/>
          <a:p>
            <a:r>
              <a:rPr lang="en-US" sz="1600" spc="300" dirty="0">
                <a:solidFill>
                  <a:srgbClr val="5099AA"/>
                </a:solidFill>
                <a:latin typeface="Calibri Light" panose="020F0302020204030204" pitchFamily="34" charset="0"/>
                <a:ea typeface="Calibri Light" panose="020F0302020204030204" pitchFamily="34" charset="0"/>
                <a:cs typeface="Calibri Light" panose="020F0302020204030204" pitchFamily="34" charset="0"/>
              </a:rPr>
              <a:t>BUSINESS PROBLEM</a:t>
            </a:r>
          </a:p>
        </p:txBody>
      </p:sp>
      <p:sp>
        <p:nvSpPr>
          <p:cNvPr id="3" name="TextBox 2">
            <a:extLst>
              <a:ext uri="{FF2B5EF4-FFF2-40B4-BE49-F238E27FC236}">
                <a16:creationId xmlns:a16="http://schemas.microsoft.com/office/drawing/2014/main" id="{6CEAEF24-3A35-E12D-A80C-FA9AEC6FEABC}"/>
              </a:ext>
            </a:extLst>
          </p:cNvPr>
          <p:cNvSpPr txBox="1"/>
          <p:nvPr/>
        </p:nvSpPr>
        <p:spPr>
          <a:xfrm>
            <a:off x="1390430" y="2327839"/>
            <a:ext cx="13242736" cy="2184316"/>
          </a:xfrm>
          <a:prstGeom prst="rect">
            <a:avLst/>
          </a:prstGeom>
          <a:noFill/>
        </p:spPr>
        <p:txBody>
          <a:bodyPr wrap="square" rtlCol="0">
            <a:spAutoFit/>
          </a:bodyPr>
          <a:lstStyle/>
          <a:p>
            <a:pPr marL="0" marR="0">
              <a:lnSpc>
                <a:spcPct val="115000"/>
              </a:lnSpc>
              <a:spcBef>
                <a:spcPts val="0"/>
              </a:spcBef>
              <a:spcAft>
                <a:spcPts val="800"/>
              </a:spcAft>
            </a:pPr>
            <a:r>
              <a:rPr lang="en-US" sz="1800" kern="100" dirty="0">
                <a:solidFill>
                  <a:srgbClr val="14262A"/>
                </a:solidFill>
                <a:effectLst/>
                <a:latin typeface="Amasis MT Pro Light" panose="02040304050005020304" pitchFamily="18" charset="0"/>
                <a:ea typeface="Aptos" panose="020B0004020202020204" pitchFamily="34" charset="0"/>
                <a:cs typeface="Times New Roman" panose="02020603050405020304" pitchFamily="18" charset="0"/>
              </a:rPr>
              <a:t>Customer churn is a major challenge in the telecommunications industry because losing existing customers directly affects revenue and increases the cost of acquiring new ones.</a:t>
            </a:r>
          </a:p>
          <a:p>
            <a:pPr marL="0" marR="0">
              <a:lnSpc>
                <a:spcPct val="115000"/>
              </a:lnSpc>
              <a:spcBef>
                <a:spcPts val="0"/>
              </a:spcBef>
              <a:spcAft>
                <a:spcPts val="800"/>
              </a:spcAft>
            </a:pPr>
            <a:r>
              <a:rPr lang="en-US" sz="1800" kern="100" dirty="0">
                <a:solidFill>
                  <a:srgbClr val="14262A"/>
                </a:solidFill>
                <a:effectLst/>
                <a:latin typeface="Amasis MT Pro Light" panose="02040304050005020304" pitchFamily="18" charset="0"/>
                <a:ea typeface="Aptos" panose="020B0004020202020204" pitchFamily="34" charset="0"/>
                <a:cs typeface="Times New Roman" panose="02020603050405020304" pitchFamily="18" charset="0"/>
              </a:rPr>
              <a:t>Out of </a:t>
            </a:r>
            <a:r>
              <a:rPr lang="en-US" sz="1800" b="1" kern="100" dirty="0">
                <a:solidFill>
                  <a:srgbClr val="14262A"/>
                </a:solidFill>
                <a:effectLst/>
                <a:latin typeface="Amasis MT Pro Light" panose="02040304050005020304" pitchFamily="18" charset="0"/>
                <a:ea typeface="Aptos" panose="020B0004020202020204" pitchFamily="34" charset="0"/>
                <a:cs typeface="Times New Roman" panose="02020603050405020304" pitchFamily="18" charset="0"/>
              </a:rPr>
              <a:t>7,043</a:t>
            </a:r>
            <a:r>
              <a:rPr lang="en-US" sz="1800" kern="100" dirty="0">
                <a:solidFill>
                  <a:srgbClr val="14262A"/>
                </a:solidFill>
                <a:effectLst/>
                <a:latin typeface="Amasis MT Pro Light" panose="02040304050005020304" pitchFamily="18" charset="0"/>
                <a:ea typeface="Aptos" panose="020B0004020202020204" pitchFamily="34" charset="0"/>
                <a:cs typeface="Times New Roman" panose="02020603050405020304" pitchFamily="18" charset="0"/>
              </a:rPr>
              <a:t> customers, the company has a churn rate of about </a:t>
            </a:r>
            <a:r>
              <a:rPr lang="en-US" sz="1800" b="1" kern="100" dirty="0">
                <a:solidFill>
                  <a:srgbClr val="14262A"/>
                </a:solidFill>
                <a:effectLst/>
                <a:latin typeface="Amasis MT Pro Light" panose="02040304050005020304" pitchFamily="18" charset="0"/>
                <a:ea typeface="Aptos" panose="020B0004020202020204" pitchFamily="34" charset="0"/>
                <a:cs typeface="Times New Roman" panose="02020603050405020304" pitchFamily="18" charset="0"/>
              </a:rPr>
              <a:t>26% </a:t>
            </a:r>
            <a:r>
              <a:rPr lang="en-US" sz="1800" kern="100" dirty="0">
                <a:solidFill>
                  <a:srgbClr val="14262A"/>
                </a:solidFill>
                <a:effectLst/>
                <a:latin typeface="Amasis MT Pro Light" panose="02040304050005020304" pitchFamily="18" charset="0"/>
                <a:ea typeface="Aptos" panose="020B0004020202020204" pitchFamily="34" charset="0"/>
                <a:cs typeface="Times New Roman" panose="02020603050405020304" pitchFamily="18" charset="0"/>
              </a:rPr>
              <a:t>and up to </a:t>
            </a:r>
            <a:r>
              <a:rPr lang="en-US" sz="1800" b="1" kern="100" dirty="0">
                <a:solidFill>
                  <a:srgbClr val="14262A"/>
                </a:solidFill>
                <a:effectLst/>
                <a:latin typeface="Amasis MT Pro Light" panose="02040304050005020304" pitchFamily="18" charset="0"/>
                <a:ea typeface="Aptos" panose="020B0004020202020204" pitchFamily="34" charset="0"/>
                <a:cs typeface="Times New Roman" panose="02020603050405020304" pitchFamily="18" charset="0"/>
              </a:rPr>
              <a:t>$139k </a:t>
            </a:r>
            <a:r>
              <a:rPr lang="en-US" sz="1800" kern="100" dirty="0">
                <a:solidFill>
                  <a:srgbClr val="14262A"/>
                </a:solidFill>
                <a:effectLst/>
                <a:latin typeface="Amasis MT Pro Light" panose="02040304050005020304" pitchFamily="18" charset="0"/>
                <a:ea typeface="Aptos" panose="020B0004020202020204" pitchFamily="34" charset="0"/>
                <a:cs typeface="Times New Roman" panose="02020603050405020304" pitchFamily="18" charset="0"/>
              </a:rPr>
              <a:t>of monthly revenue lost. </a:t>
            </a:r>
            <a:r>
              <a:rPr lang="en-US" dirty="0">
                <a:solidFill>
                  <a:srgbClr val="14262A"/>
                </a:solidFill>
                <a:latin typeface="Amasis MT Pro Light" panose="02040304050005020304" pitchFamily="18" charset="0"/>
              </a:rPr>
              <a:t>Customer retention is significantly more cost-efficient than acquisition (by a factor of 5 to 25x) underscoring churn reduction as a strategic imperative. </a:t>
            </a:r>
          </a:p>
          <a:p>
            <a:pPr marL="0" marR="0">
              <a:lnSpc>
                <a:spcPct val="115000"/>
              </a:lnSpc>
              <a:spcBef>
                <a:spcPts val="0"/>
              </a:spcBef>
              <a:spcAft>
                <a:spcPts val="800"/>
              </a:spcAft>
            </a:pPr>
            <a:r>
              <a:rPr lang="en-US" dirty="0">
                <a:solidFill>
                  <a:srgbClr val="14262A"/>
                </a:solidFill>
                <a:latin typeface="Amasis MT Pro Light" panose="02040304050005020304" pitchFamily="18" charset="0"/>
              </a:rPr>
              <a:t>In the absence of data-driven intervention, continued churn threatens to erode both the customer base and the organization's competitive position.</a:t>
            </a:r>
            <a:endParaRPr lang="en-US" sz="1800" kern="100" dirty="0">
              <a:solidFill>
                <a:srgbClr val="14262A"/>
              </a:solidFill>
              <a:effectLst/>
              <a:latin typeface="Amasis MT Pro Light" panose="02040304050005020304" pitchFamily="18" charset="0"/>
              <a:ea typeface="Aptos" panose="020B000402020202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7E6CD521-CFA9-66CE-8394-FB353B8BFAF9}"/>
              </a:ext>
            </a:extLst>
          </p:cNvPr>
          <p:cNvSpPr txBox="1"/>
          <p:nvPr/>
        </p:nvSpPr>
        <p:spPr>
          <a:xfrm>
            <a:off x="1390430" y="5707610"/>
            <a:ext cx="6302770" cy="1547218"/>
          </a:xfrm>
          <a:prstGeom prst="rect">
            <a:avLst/>
          </a:prstGeom>
          <a:noFill/>
        </p:spPr>
        <p:txBody>
          <a:bodyPr wrap="square" rtlCol="0">
            <a:spAutoFit/>
          </a:bodyPr>
          <a:lstStyle/>
          <a:p>
            <a:pPr>
              <a:lnSpc>
                <a:spcPct val="115000"/>
              </a:lnSpc>
              <a:spcAft>
                <a:spcPts val="800"/>
              </a:spcAft>
            </a:pPr>
            <a:r>
              <a:rPr lang="en-US" kern="100" dirty="0">
                <a:solidFill>
                  <a:srgbClr val="14262A"/>
                </a:solidFill>
                <a:latin typeface="Amasis MT Pro Light" panose="02040304050005020304" pitchFamily="18" charset="0"/>
                <a:cs typeface="Times New Roman" panose="02020603050405020304" pitchFamily="18" charset="0"/>
              </a:rPr>
              <a:t>Examine customer churn patterns within a telecommunications company.</a:t>
            </a:r>
          </a:p>
          <a:p>
            <a:pPr>
              <a:lnSpc>
                <a:spcPct val="115000"/>
              </a:lnSpc>
              <a:spcAft>
                <a:spcPts val="800"/>
              </a:spcAft>
            </a:pPr>
            <a:r>
              <a:rPr lang="en-US" kern="100" dirty="0">
                <a:solidFill>
                  <a:srgbClr val="14262A"/>
                </a:solidFill>
                <a:latin typeface="Amasis MT Pro Light" panose="02040304050005020304" pitchFamily="18" charset="0"/>
                <a:cs typeface="Times New Roman" panose="02020603050405020304" pitchFamily="18" charset="0"/>
              </a:rPr>
              <a:t>Identify the key factors that influence customer attrition.</a:t>
            </a:r>
          </a:p>
          <a:p>
            <a:pPr>
              <a:lnSpc>
                <a:spcPct val="115000"/>
              </a:lnSpc>
              <a:spcAft>
                <a:spcPts val="800"/>
              </a:spcAft>
            </a:pPr>
            <a:r>
              <a:rPr lang="en-US" kern="100" dirty="0">
                <a:solidFill>
                  <a:srgbClr val="14262A"/>
                </a:solidFill>
                <a:latin typeface="Amasis MT Pro Light" panose="02040304050005020304" pitchFamily="18" charset="0"/>
                <a:cs typeface="Times New Roman" panose="02020603050405020304" pitchFamily="18" charset="0"/>
              </a:rPr>
              <a:t>Segment customers based on their churn behavior.</a:t>
            </a:r>
          </a:p>
        </p:txBody>
      </p:sp>
      <p:sp>
        <p:nvSpPr>
          <p:cNvPr id="9" name="TextBox 8">
            <a:extLst>
              <a:ext uri="{FF2B5EF4-FFF2-40B4-BE49-F238E27FC236}">
                <a16:creationId xmlns:a16="http://schemas.microsoft.com/office/drawing/2014/main" id="{7A038602-F645-5D04-0702-025E7527CE03}"/>
              </a:ext>
            </a:extLst>
          </p:cNvPr>
          <p:cNvSpPr txBox="1"/>
          <p:nvPr/>
        </p:nvSpPr>
        <p:spPr>
          <a:xfrm>
            <a:off x="8330396" y="5707610"/>
            <a:ext cx="6302770" cy="1023485"/>
          </a:xfrm>
          <a:prstGeom prst="rect">
            <a:avLst/>
          </a:prstGeom>
          <a:noFill/>
        </p:spPr>
        <p:txBody>
          <a:bodyPr wrap="square" rtlCol="0">
            <a:spAutoFit/>
          </a:bodyPr>
          <a:lstStyle/>
          <a:p>
            <a:pPr>
              <a:lnSpc>
                <a:spcPct val="115000"/>
              </a:lnSpc>
              <a:spcAft>
                <a:spcPts val="800"/>
              </a:spcAft>
            </a:pPr>
            <a:r>
              <a:rPr lang="en-US" kern="100" dirty="0">
                <a:solidFill>
                  <a:srgbClr val="14262A"/>
                </a:solidFill>
                <a:latin typeface="Amasis MT Pro Light" panose="02040304050005020304" pitchFamily="18" charset="0"/>
                <a:cs typeface="Times New Roman" panose="02020603050405020304" pitchFamily="18" charset="0"/>
              </a:rPr>
              <a:t>Generate practical business insights and recommend data-driven strategies that can improve customer retention and also support informed decision-making</a:t>
            </a:r>
          </a:p>
        </p:txBody>
      </p:sp>
      <p:sp>
        <p:nvSpPr>
          <p:cNvPr id="10" name="TextBox 9">
            <a:extLst>
              <a:ext uri="{FF2B5EF4-FFF2-40B4-BE49-F238E27FC236}">
                <a16:creationId xmlns:a16="http://schemas.microsoft.com/office/drawing/2014/main" id="{44939016-D202-484F-21A2-201A6B9BB53D}"/>
              </a:ext>
            </a:extLst>
          </p:cNvPr>
          <p:cNvSpPr txBox="1"/>
          <p:nvPr/>
        </p:nvSpPr>
        <p:spPr>
          <a:xfrm>
            <a:off x="1480634" y="5093022"/>
            <a:ext cx="2998985" cy="338554"/>
          </a:xfrm>
          <a:prstGeom prst="rect">
            <a:avLst/>
          </a:prstGeom>
          <a:noFill/>
        </p:spPr>
        <p:txBody>
          <a:bodyPr wrap="square" rtlCol="0">
            <a:spAutoFit/>
          </a:bodyPr>
          <a:lstStyle/>
          <a:p>
            <a:r>
              <a:rPr lang="en-US" sz="1600" spc="300" dirty="0">
                <a:solidFill>
                  <a:srgbClr val="5099AA"/>
                </a:solidFill>
                <a:latin typeface="Calibri Light" panose="020F0302020204030204" pitchFamily="34" charset="0"/>
                <a:ea typeface="Calibri Light" panose="020F0302020204030204" pitchFamily="34" charset="0"/>
                <a:cs typeface="Calibri Light" panose="020F0302020204030204" pitchFamily="34" charset="0"/>
              </a:rPr>
              <a:t>PROJECT OBJECTIVES</a:t>
            </a:r>
          </a:p>
        </p:txBody>
      </p:sp>
      <p:sp>
        <p:nvSpPr>
          <p:cNvPr id="11" name="TextBox 10">
            <a:extLst>
              <a:ext uri="{FF2B5EF4-FFF2-40B4-BE49-F238E27FC236}">
                <a16:creationId xmlns:a16="http://schemas.microsoft.com/office/drawing/2014/main" id="{F076E9CD-823F-E8F3-F18D-569436AA07E1}"/>
              </a:ext>
            </a:extLst>
          </p:cNvPr>
          <p:cNvSpPr txBox="1"/>
          <p:nvPr/>
        </p:nvSpPr>
        <p:spPr>
          <a:xfrm>
            <a:off x="8482796" y="5093022"/>
            <a:ext cx="2998985" cy="338554"/>
          </a:xfrm>
          <a:prstGeom prst="rect">
            <a:avLst/>
          </a:prstGeom>
          <a:noFill/>
        </p:spPr>
        <p:txBody>
          <a:bodyPr wrap="square" rtlCol="0">
            <a:spAutoFit/>
          </a:bodyPr>
          <a:lstStyle/>
          <a:p>
            <a:r>
              <a:rPr lang="en-US" sz="1600" spc="300" dirty="0">
                <a:solidFill>
                  <a:srgbClr val="5099AA"/>
                </a:solidFill>
                <a:latin typeface="Calibri Light" panose="020F0302020204030204" pitchFamily="34" charset="0"/>
                <a:ea typeface="Calibri Light" panose="020F0302020204030204" pitchFamily="34" charset="0"/>
                <a:cs typeface="Calibri Light" panose="020F0302020204030204" pitchFamily="34" charset="0"/>
              </a:rPr>
              <a:t>EXPECTED OUTCOMES</a:t>
            </a:r>
          </a:p>
        </p:txBody>
      </p:sp>
      <p:sp>
        <p:nvSpPr>
          <p:cNvPr id="12" name="Rectangle 11">
            <a:extLst>
              <a:ext uri="{FF2B5EF4-FFF2-40B4-BE49-F238E27FC236}">
                <a16:creationId xmlns:a16="http://schemas.microsoft.com/office/drawing/2014/main" id="{ECF9F90B-0BA1-9C87-870F-9CA1F768B712}"/>
              </a:ext>
            </a:extLst>
          </p:cNvPr>
          <p:cNvSpPr/>
          <p:nvPr/>
        </p:nvSpPr>
        <p:spPr>
          <a:xfrm flipV="1">
            <a:off x="1480634" y="2065521"/>
            <a:ext cx="857559" cy="27432"/>
          </a:xfrm>
          <a:prstGeom prst="rect">
            <a:avLst/>
          </a:prstGeom>
          <a:solidFill>
            <a:srgbClr val="5099AA"/>
          </a:solidFill>
          <a:ln>
            <a:noFill/>
          </a:ln>
          <a:effectLst>
            <a:outerShdw blurRad="508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1599EE4-B425-08D2-08FE-89A0056887AC}"/>
              </a:ext>
            </a:extLst>
          </p:cNvPr>
          <p:cNvSpPr/>
          <p:nvPr/>
        </p:nvSpPr>
        <p:spPr>
          <a:xfrm flipV="1">
            <a:off x="1480634" y="5445292"/>
            <a:ext cx="857559" cy="27432"/>
          </a:xfrm>
          <a:prstGeom prst="rect">
            <a:avLst/>
          </a:prstGeom>
          <a:solidFill>
            <a:srgbClr val="5099AA"/>
          </a:solidFill>
          <a:ln>
            <a:noFill/>
          </a:ln>
          <a:effectLst>
            <a:outerShdw blurRad="508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25262FD6-A77D-4EE5-D38A-383E3FD03CBE}"/>
              </a:ext>
            </a:extLst>
          </p:cNvPr>
          <p:cNvSpPr/>
          <p:nvPr/>
        </p:nvSpPr>
        <p:spPr>
          <a:xfrm flipV="1">
            <a:off x="8482796" y="5431576"/>
            <a:ext cx="857559" cy="27432"/>
          </a:xfrm>
          <a:prstGeom prst="rect">
            <a:avLst/>
          </a:prstGeom>
          <a:solidFill>
            <a:srgbClr val="5099AA"/>
          </a:solidFill>
          <a:ln>
            <a:noFill/>
          </a:ln>
          <a:effectLst>
            <a:outerShdw blurRad="508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599539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FB25984-9AC4-8A99-7272-DCFB945BA2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56" y="0"/>
            <a:ext cx="16242888" cy="9144000"/>
          </a:xfrm>
          <a:prstGeom prst="rect">
            <a:avLst/>
          </a:prstGeom>
        </p:spPr>
      </p:pic>
      <p:sp>
        <p:nvSpPr>
          <p:cNvPr id="4" name="Rectangle 3">
            <a:extLst>
              <a:ext uri="{FF2B5EF4-FFF2-40B4-BE49-F238E27FC236}">
                <a16:creationId xmlns:a16="http://schemas.microsoft.com/office/drawing/2014/main" id="{BD6418C3-3E3D-F973-0F8E-BCF2BBB5AD8B}"/>
              </a:ext>
            </a:extLst>
          </p:cNvPr>
          <p:cNvSpPr/>
          <p:nvPr/>
        </p:nvSpPr>
        <p:spPr>
          <a:xfrm>
            <a:off x="-14732" y="0"/>
            <a:ext cx="16285464" cy="9144000"/>
          </a:xfrm>
          <a:prstGeom prst="rect">
            <a:avLst/>
          </a:prstGeom>
          <a:gradFill flip="none" rotWithShape="1">
            <a:gsLst>
              <a:gs pos="50000">
                <a:srgbClr val="14262A">
                  <a:alpha val="91000"/>
                </a:srgbClr>
              </a:gs>
              <a:gs pos="0">
                <a:srgbClr val="14262A">
                  <a:alpha val="90000"/>
                </a:srgbClr>
              </a:gs>
              <a:gs pos="100000">
                <a:srgbClr val="14262A">
                  <a:alpha val="94902"/>
                </a:srgb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7772BAB4-74F4-16E9-6752-3E8E51628603}"/>
              </a:ext>
            </a:extLst>
          </p:cNvPr>
          <p:cNvSpPr txBox="1"/>
          <p:nvPr/>
        </p:nvSpPr>
        <p:spPr>
          <a:xfrm>
            <a:off x="3336329" y="3132948"/>
            <a:ext cx="1358493" cy="1015663"/>
          </a:xfrm>
          <a:prstGeom prst="rect">
            <a:avLst/>
          </a:prstGeom>
          <a:noFill/>
        </p:spPr>
        <p:txBody>
          <a:bodyPr wrap="square" rtlCol="0">
            <a:spAutoFit/>
          </a:bodyPr>
          <a:lstStyle/>
          <a:p>
            <a:pPr algn="ctr"/>
            <a:r>
              <a:rPr lang="en-US" sz="6000" b="1" dirty="0">
                <a:solidFill>
                  <a:srgbClr val="5099AA"/>
                </a:solidFill>
                <a:latin typeface="Oranienbaum" panose="02000506080000020003" pitchFamily="2" charset="0"/>
              </a:rPr>
              <a:t>02.</a:t>
            </a:r>
          </a:p>
        </p:txBody>
      </p:sp>
      <p:sp>
        <p:nvSpPr>
          <p:cNvPr id="10" name="Rectangle 9">
            <a:extLst>
              <a:ext uri="{FF2B5EF4-FFF2-40B4-BE49-F238E27FC236}">
                <a16:creationId xmlns:a16="http://schemas.microsoft.com/office/drawing/2014/main" id="{1209BBD8-3BDC-4A36-C248-B7D83467B8FF}"/>
              </a:ext>
            </a:extLst>
          </p:cNvPr>
          <p:cNvSpPr/>
          <p:nvPr/>
        </p:nvSpPr>
        <p:spPr>
          <a:xfrm flipV="1">
            <a:off x="3679158" y="4124370"/>
            <a:ext cx="719848" cy="118872"/>
          </a:xfrm>
          <a:prstGeom prst="rect">
            <a:avLst/>
          </a:prstGeom>
          <a:solidFill>
            <a:srgbClr val="5099AA">
              <a:alpha val="3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650BF5B6-C788-121F-49FF-3EC510C9719E}"/>
              </a:ext>
            </a:extLst>
          </p:cNvPr>
          <p:cNvSpPr txBox="1"/>
          <p:nvPr/>
        </p:nvSpPr>
        <p:spPr>
          <a:xfrm>
            <a:off x="3801321" y="4351956"/>
            <a:ext cx="4687771" cy="707886"/>
          </a:xfrm>
          <a:prstGeom prst="rect">
            <a:avLst/>
          </a:prstGeom>
          <a:noFill/>
        </p:spPr>
        <p:txBody>
          <a:bodyPr wrap="square" rtlCol="0">
            <a:spAutoFit/>
          </a:bodyPr>
          <a:lstStyle/>
          <a:p>
            <a:pPr algn="ctr"/>
            <a:r>
              <a:rPr lang="en-US" sz="4000" b="1" dirty="0">
                <a:solidFill>
                  <a:schemeClr val="bg1"/>
                </a:solidFill>
                <a:latin typeface="Amasis MT Pro Light" panose="02040304050005020304" pitchFamily="18" charset="0"/>
              </a:rPr>
              <a:t>Data &amp; Methodology</a:t>
            </a:r>
          </a:p>
        </p:txBody>
      </p:sp>
      <p:sp>
        <p:nvSpPr>
          <p:cNvPr id="6" name="TextBox 5">
            <a:extLst>
              <a:ext uri="{FF2B5EF4-FFF2-40B4-BE49-F238E27FC236}">
                <a16:creationId xmlns:a16="http://schemas.microsoft.com/office/drawing/2014/main" id="{3A355001-5CAC-94C0-4695-11FEDC2246D0}"/>
              </a:ext>
            </a:extLst>
          </p:cNvPr>
          <p:cNvSpPr txBox="1"/>
          <p:nvPr/>
        </p:nvSpPr>
        <p:spPr>
          <a:xfrm>
            <a:off x="3929078" y="5059842"/>
            <a:ext cx="5159632" cy="880369"/>
          </a:xfrm>
          <a:prstGeom prst="rect">
            <a:avLst/>
          </a:prstGeom>
          <a:noFill/>
        </p:spPr>
        <p:txBody>
          <a:bodyPr wrap="square" rtlCol="0">
            <a:spAutoFit/>
          </a:bodyPr>
          <a:lstStyle/>
          <a:p>
            <a:pPr algn="l">
              <a:lnSpc>
                <a:spcPct val="150000"/>
              </a:lnSpc>
            </a:pPr>
            <a:r>
              <a:rPr lang="en-US" dirty="0">
                <a:solidFill>
                  <a:schemeClr val="bg1"/>
                </a:solidFill>
                <a:latin typeface="Calibri Light" panose="020F0302020204030204" pitchFamily="34" charset="0"/>
                <a:ea typeface="Calibri Light" panose="020F0302020204030204" pitchFamily="34" charset="0"/>
                <a:cs typeface="Calibri Light" panose="020F0302020204030204" pitchFamily="34" charset="0"/>
              </a:rPr>
              <a:t>Data description, analytical approach, and methods for uncovering drivers of churn.</a:t>
            </a:r>
          </a:p>
        </p:txBody>
      </p:sp>
      <p:sp>
        <p:nvSpPr>
          <p:cNvPr id="7" name="Rectangle 6">
            <a:extLst>
              <a:ext uri="{FF2B5EF4-FFF2-40B4-BE49-F238E27FC236}">
                <a16:creationId xmlns:a16="http://schemas.microsoft.com/office/drawing/2014/main" id="{9DF7F4C1-BC91-0623-E5D5-F1560E10DA07}"/>
              </a:ext>
            </a:extLst>
          </p:cNvPr>
          <p:cNvSpPr/>
          <p:nvPr/>
        </p:nvSpPr>
        <p:spPr>
          <a:xfrm rot="5400000" flipV="1">
            <a:off x="3444099" y="4591887"/>
            <a:ext cx="592277" cy="122167"/>
          </a:xfrm>
          <a:prstGeom prst="rect">
            <a:avLst/>
          </a:prstGeom>
          <a:solidFill>
            <a:srgbClr val="5099AA">
              <a:alpha val="3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137163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1EB"/>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F138FB7-9F29-B65E-2E10-1F58AB0A0DBE}"/>
              </a:ext>
            </a:extLst>
          </p:cNvPr>
          <p:cNvSpPr txBox="1"/>
          <p:nvPr/>
        </p:nvSpPr>
        <p:spPr>
          <a:xfrm>
            <a:off x="1714444" y="605993"/>
            <a:ext cx="3961576" cy="707886"/>
          </a:xfrm>
          <a:prstGeom prst="rect">
            <a:avLst/>
          </a:prstGeom>
          <a:noFill/>
        </p:spPr>
        <p:txBody>
          <a:bodyPr wrap="square" rtlCol="0">
            <a:spAutoFit/>
          </a:bodyPr>
          <a:lstStyle/>
          <a:p>
            <a:r>
              <a:rPr lang="en-US" sz="4000" dirty="0">
                <a:solidFill>
                  <a:srgbClr val="14262A"/>
                </a:solidFill>
                <a:latin typeface="Amasis MT Pro Light" panose="02040304050005020304" pitchFamily="18" charset="0"/>
              </a:rPr>
              <a:t>Dataset Overview</a:t>
            </a:r>
          </a:p>
        </p:txBody>
      </p:sp>
      <p:sp>
        <p:nvSpPr>
          <p:cNvPr id="5" name="Rectangle 4">
            <a:extLst>
              <a:ext uri="{FF2B5EF4-FFF2-40B4-BE49-F238E27FC236}">
                <a16:creationId xmlns:a16="http://schemas.microsoft.com/office/drawing/2014/main" id="{10092EF7-4697-3B8A-85FC-1DF51257E280}"/>
              </a:ext>
            </a:extLst>
          </p:cNvPr>
          <p:cNvSpPr/>
          <p:nvPr/>
        </p:nvSpPr>
        <p:spPr>
          <a:xfrm rot="5400000" flipV="1">
            <a:off x="1295146" y="914216"/>
            <a:ext cx="574161" cy="91440"/>
          </a:xfrm>
          <a:prstGeom prst="rect">
            <a:avLst/>
          </a:prstGeom>
          <a:solidFill>
            <a:srgbClr val="5099AA"/>
          </a:solidFill>
          <a:ln>
            <a:noFill/>
          </a:ln>
          <a:effectLst>
            <a:outerShdw blurRad="50800" dist="38100" dir="2700000" algn="tl" rotWithShape="0">
              <a:prstClr val="black">
                <a:alpha val="13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47906F6-2DD1-364B-24B0-7A552DF0B3D6}"/>
              </a:ext>
            </a:extLst>
          </p:cNvPr>
          <p:cNvSpPr/>
          <p:nvPr/>
        </p:nvSpPr>
        <p:spPr>
          <a:xfrm>
            <a:off x="4352038" y="2260113"/>
            <a:ext cx="2673178" cy="1952368"/>
          </a:xfrm>
          <a:prstGeom prst="rect">
            <a:avLst/>
          </a:prstGeom>
          <a:solidFill>
            <a:srgbClr val="EDE8E0"/>
          </a:solidFill>
          <a:ln>
            <a:noFill/>
          </a:ln>
          <a:effectLst>
            <a:outerShdw blurRad="50800" dist="38100" dir="2700000" algn="tl" rotWithShape="0">
              <a:prstClr val="black">
                <a:alpha val="19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2030D781-0AE7-F69A-C53E-D91D1D7DB025}"/>
              </a:ext>
            </a:extLst>
          </p:cNvPr>
          <p:cNvSpPr/>
          <p:nvPr/>
        </p:nvSpPr>
        <p:spPr>
          <a:xfrm>
            <a:off x="1536757" y="6527313"/>
            <a:ext cx="5488458" cy="1952368"/>
          </a:xfrm>
          <a:prstGeom prst="rect">
            <a:avLst/>
          </a:prstGeom>
          <a:solidFill>
            <a:srgbClr val="EDE8E0"/>
          </a:solidFill>
          <a:ln>
            <a:noFill/>
          </a:ln>
          <a:effectLst>
            <a:outerShdw blurRad="50800" dist="38100" dir="2700000" algn="tl" rotWithShape="0">
              <a:prstClr val="black">
                <a:alpha val="19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C0C98D6-2F28-9C69-BF92-F6067BE3F0CE}"/>
              </a:ext>
            </a:extLst>
          </p:cNvPr>
          <p:cNvSpPr/>
          <p:nvPr/>
        </p:nvSpPr>
        <p:spPr>
          <a:xfrm>
            <a:off x="4352037" y="4353092"/>
            <a:ext cx="2673177" cy="1952368"/>
          </a:xfrm>
          <a:prstGeom prst="rect">
            <a:avLst/>
          </a:prstGeom>
          <a:solidFill>
            <a:srgbClr val="EDE8E0"/>
          </a:solidFill>
          <a:ln>
            <a:noFill/>
          </a:ln>
          <a:effectLst>
            <a:outerShdw blurRad="50800" dist="38100" dir="2700000" algn="tl" rotWithShape="0">
              <a:prstClr val="black">
                <a:alpha val="19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DC0AC77-0EF6-0C1D-D2BA-D7C2BF308962}"/>
              </a:ext>
            </a:extLst>
          </p:cNvPr>
          <p:cNvSpPr/>
          <p:nvPr/>
        </p:nvSpPr>
        <p:spPr>
          <a:xfrm>
            <a:off x="1536757" y="4353092"/>
            <a:ext cx="2673178" cy="1952368"/>
          </a:xfrm>
          <a:prstGeom prst="rect">
            <a:avLst/>
          </a:prstGeom>
          <a:solidFill>
            <a:srgbClr val="EDE8E0"/>
          </a:solidFill>
          <a:ln>
            <a:noFill/>
          </a:ln>
          <a:effectLst>
            <a:outerShdw blurRad="50800" dist="38100" dir="2700000" algn="tl" rotWithShape="0">
              <a:prstClr val="black">
                <a:alpha val="19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CED58F75-1A07-735F-E68D-8AB3F7539EEF}"/>
              </a:ext>
            </a:extLst>
          </p:cNvPr>
          <p:cNvSpPr/>
          <p:nvPr/>
        </p:nvSpPr>
        <p:spPr>
          <a:xfrm>
            <a:off x="1536757" y="2260113"/>
            <a:ext cx="2673178" cy="1952368"/>
          </a:xfrm>
          <a:prstGeom prst="rect">
            <a:avLst/>
          </a:prstGeom>
          <a:solidFill>
            <a:srgbClr val="EDE8E0"/>
          </a:solidFill>
          <a:ln>
            <a:noFill/>
          </a:ln>
          <a:effectLst>
            <a:outerShdw blurRad="50800" dist="38100" dir="2700000" algn="tl" rotWithShape="0">
              <a:prstClr val="black">
                <a:alpha val="19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5DB7DCE3-159B-224C-F505-A02C6444D259}"/>
              </a:ext>
            </a:extLst>
          </p:cNvPr>
          <p:cNvSpPr txBox="1"/>
          <p:nvPr/>
        </p:nvSpPr>
        <p:spPr>
          <a:xfrm>
            <a:off x="2146357" y="2736809"/>
            <a:ext cx="1453978" cy="707886"/>
          </a:xfrm>
          <a:prstGeom prst="rect">
            <a:avLst/>
          </a:prstGeom>
          <a:noFill/>
        </p:spPr>
        <p:txBody>
          <a:bodyPr wrap="square" rtlCol="0">
            <a:spAutoFit/>
          </a:bodyPr>
          <a:lstStyle/>
          <a:p>
            <a:pPr algn="ctr"/>
            <a:r>
              <a:rPr lang="en-US" sz="4000" dirty="0">
                <a:solidFill>
                  <a:srgbClr val="5099AA"/>
                </a:solidFill>
                <a:latin typeface="Oranienbaum" panose="02000506080000020003" pitchFamily="2" charset="0"/>
              </a:rPr>
              <a:t>7,043</a:t>
            </a:r>
          </a:p>
        </p:txBody>
      </p:sp>
      <p:sp>
        <p:nvSpPr>
          <p:cNvPr id="25" name="TextBox 24">
            <a:extLst>
              <a:ext uri="{FF2B5EF4-FFF2-40B4-BE49-F238E27FC236}">
                <a16:creationId xmlns:a16="http://schemas.microsoft.com/office/drawing/2014/main" id="{3D991ABE-7372-3F7D-897F-5E77B2A2CA92}"/>
              </a:ext>
            </a:extLst>
          </p:cNvPr>
          <p:cNvSpPr txBox="1"/>
          <p:nvPr/>
        </p:nvSpPr>
        <p:spPr>
          <a:xfrm>
            <a:off x="2146357" y="3444695"/>
            <a:ext cx="1596080" cy="338554"/>
          </a:xfrm>
          <a:prstGeom prst="rect">
            <a:avLst/>
          </a:prstGeom>
          <a:noFill/>
        </p:spPr>
        <p:txBody>
          <a:bodyPr wrap="square" rtlCol="0">
            <a:spAutoFit/>
          </a:bodyPr>
          <a:lstStyle/>
          <a:p>
            <a:r>
              <a:rPr lang="en-US" sz="1600" dirty="0">
                <a:solidFill>
                  <a:srgbClr val="14262A"/>
                </a:solidFill>
                <a:latin typeface="Amasis MT Pro Light" panose="02040304050005020304" pitchFamily="18" charset="0"/>
              </a:rPr>
              <a:t>Total Customers</a:t>
            </a:r>
          </a:p>
        </p:txBody>
      </p:sp>
      <p:sp>
        <p:nvSpPr>
          <p:cNvPr id="26" name="TextBox 25">
            <a:extLst>
              <a:ext uri="{FF2B5EF4-FFF2-40B4-BE49-F238E27FC236}">
                <a16:creationId xmlns:a16="http://schemas.microsoft.com/office/drawing/2014/main" id="{63342C49-667E-7D78-EDAD-37B6ABF2D991}"/>
              </a:ext>
            </a:extLst>
          </p:cNvPr>
          <p:cNvSpPr txBox="1"/>
          <p:nvPr/>
        </p:nvSpPr>
        <p:spPr>
          <a:xfrm>
            <a:off x="2146357" y="4784893"/>
            <a:ext cx="1453978" cy="707886"/>
          </a:xfrm>
          <a:prstGeom prst="rect">
            <a:avLst/>
          </a:prstGeom>
          <a:noFill/>
        </p:spPr>
        <p:txBody>
          <a:bodyPr wrap="square" rtlCol="0">
            <a:spAutoFit/>
          </a:bodyPr>
          <a:lstStyle/>
          <a:p>
            <a:pPr algn="ctr"/>
            <a:r>
              <a:rPr lang="en-US" sz="4000" dirty="0">
                <a:solidFill>
                  <a:srgbClr val="5099AA"/>
                </a:solidFill>
                <a:latin typeface="Oranienbaum" panose="02000506080000020003" pitchFamily="2" charset="0"/>
              </a:rPr>
              <a:t>1,869</a:t>
            </a:r>
          </a:p>
        </p:txBody>
      </p:sp>
      <p:sp>
        <p:nvSpPr>
          <p:cNvPr id="27" name="TextBox 26">
            <a:extLst>
              <a:ext uri="{FF2B5EF4-FFF2-40B4-BE49-F238E27FC236}">
                <a16:creationId xmlns:a16="http://schemas.microsoft.com/office/drawing/2014/main" id="{81CDE690-8296-AB85-60A2-018A89B8EBA7}"/>
              </a:ext>
            </a:extLst>
          </p:cNvPr>
          <p:cNvSpPr txBox="1"/>
          <p:nvPr/>
        </p:nvSpPr>
        <p:spPr>
          <a:xfrm>
            <a:off x="1999106" y="5504734"/>
            <a:ext cx="1951337" cy="338554"/>
          </a:xfrm>
          <a:prstGeom prst="rect">
            <a:avLst/>
          </a:prstGeom>
          <a:noFill/>
        </p:spPr>
        <p:txBody>
          <a:bodyPr wrap="square" rtlCol="0">
            <a:spAutoFit/>
          </a:bodyPr>
          <a:lstStyle/>
          <a:p>
            <a:r>
              <a:rPr lang="en-US" sz="1600" dirty="0">
                <a:solidFill>
                  <a:srgbClr val="14262A"/>
                </a:solidFill>
                <a:latin typeface="Amasis MT Pro Light" panose="02040304050005020304" pitchFamily="18" charset="0"/>
              </a:rPr>
              <a:t>Churned Customers</a:t>
            </a:r>
          </a:p>
        </p:txBody>
      </p:sp>
      <p:sp>
        <p:nvSpPr>
          <p:cNvPr id="30" name="TextBox 29">
            <a:extLst>
              <a:ext uri="{FF2B5EF4-FFF2-40B4-BE49-F238E27FC236}">
                <a16:creationId xmlns:a16="http://schemas.microsoft.com/office/drawing/2014/main" id="{DD748280-5DD7-8B74-D6D6-D3ADF49714A6}"/>
              </a:ext>
            </a:extLst>
          </p:cNvPr>
          <p:cNvSpPr txBox="1"/>
          <p:nvPr/>
        </p:nvSpPr>
        <p:spPr>
          <a:xfrm>
            <a:off x="4961637" y="4784608"/>
            <a:ext cx="1453978" cy="707886"/>
          </a:xfrm>
          <a:prstGeom prst="rect">
            <a:avLst/>
          </a:prstGeom>
          <a:noFill/>
        </p:spPr>
        <p:txBody>
          <a:bodyPr wrap="square" rtlCol="0">
            <a:spAutoFit/>
          </a:bodyPr>
          <a:lstStyle/>
          <a:p>
            <a:pPr algn="ctr"/>
            <a:r>
              <a:rPr lang="en-US" sz="4000" dirty="0">
                <a:solidFill>
                  <a:srgbClr val="5099AA"/>
                </a:solidFill>
                <a:latin typeface="Oranienbaum" panose="02000506080000020003" pitchFamily="2" charset="0"/>
              </a:rPr>
              <a:t>26.5%</a:t>
            </a:r>
          </a:p>
        </p:txBody>
      </p:sp>
      <p:sp>
        <p:nvSpPr>
          <p:cNvPr id="31" name="TextBox 30">
            <a:extLst>
              <a:ext uri="{FF2B5EF4-FFF2-40B4-BE49-F238E27FC236}">
                <a16:creationId xmlns:a16="http://schemas.microsoft.com/office/drawing/2014/main" id="{92D9217E-4C7C-D822-9BFE-B2FD70134581}"/>
              </a:ext>
            </a:extLst>
          </p:cNvPr>
          <p:cNvSpPr txBox="1"/>
          <p:nvPr/>
        </p:nvSpPr>
        <p:spPr>
          <a:xfrm>
            <a:off x="4890586" y="5480709"/>
            <a:ext cx="1596080" cy="338554"/>
          </a:xfrm>
          <a:prstGeom prst="rect">
            <a:avLst/>
          </a:prstGeom>
          <a:noFill/>
        </p:spPr>
        <p:txBody>
          <a:bodyPr wrap="square" rtlCol="0">
            <a:spAutoFit/>
          </a:bodyPr>
          <a:lstStyle/>
          <a:p>
            <a:pPr algn="ctr"/>
            <a:r>
              <a:rPr lang="en-US" sz="1600" dirty="0">
                <a:solidFill>
                  <a:srgbClr val="14262A"/>
                </a:solidFill>
                <a:latin typeface="Amasis MT Pro Light" panose="02040304050005020304" pitchFamily="18" charset="0"/>
              </a:rPr>
              <a:t>Churn Rate</a:t>
            </a:r>
          </a:p>
        </p:txBody>
      </p:sp>
      <p:sp>
        <p:nvSpPr>
          <p:cNvPr id="32" name="TextBox 31">
            <a:extLst>
              <a:ext uri="{FF2B5EF4-FFF2-40B4-BE49-F238E27FC236}">
                <a16:creationId xmlns:a16="http://schemas.microsoft.com/office/drawing/2014/main" id="{671A0E98-2911-96B0-4DAD-0D4F0931DB68}"/>
              </a:ext>
            </a:extLst>
          </p:cNvPr>
          <p:cNvSpPr txBox="1"/>
          <p:nvPr/>
        </p:nvSpPr>
        <p:spPr>
          <a:xfrm>
            <a:off x="4961637" y="2733437"/>
            <a:ext cx="1453978" cy="707886"/>
          </a:xfrm>
          <a:prstGeom prst="rect">
            <a:avLst/>
          </a:prstGeom>
          <a:noFill/>
        </p:spPr>
        <p:txBody>
          <a:bodyPr wrap="square" rtlCol="0">
            <a:spAutoFit/>
          </a:bodyPr>
          <a:lstStyle/>
          <a:p>
            <a:pPr algn="ctr"/>
            <a:r>
              <a:rPr lang="en-US" sz="4000" dirty="0">
                <a:solidFill>
                  <a:srgbClr val="5099AA"/>
                </a:solidFill>
                <a:latin typeface="Oranienbaum" panose="02000506080000020003" pitchFamily="2" charset="0"/>
              </a:rPr>
              <a:t>21</a:t>
            </a:r>
          </a:p>
        </p:txBody>
      </p:sp>
      <p:sp>
        <p:nvSpPr>
          <p:cNvPr id="33" name="TextBox 32">
            <a:extLst>
              <a:ext uri="{FF2B5EF4-FFF2-40B4-BE49-F238E27FC236}">
                <a16:creationId xmlns:a16="http://schemas.microsoft.com/office/drawing/2014/main" id="{64F12AA1-186C-1C3D-FAE6-085D06F28977}"/>
              </a:ext>
            </a:extLst>
          </p:cNvPr>
          <p:cNvSpPr txBox="1"/>
          <p:nvPr/>
        </p:nvSpPr>
        <p:spPr>
          <a:xfrm>
            <a:off x="4890586" y="3441323"/>
            <a:ext cx="1596080" cy="338554"/>
          </a:xfrm>
          <a:prstGeom prst="rect">
            <a:avLst/>
          </a:prstGeom>
          <a:noFill/>
        </p:spPr>
        <p:txBody>
          <a:bodyPr wrap="square" rtlCol="0">
            <a:spAutoFit/>
          </a:bodyPr>
          <a:lstStyle/>
          <a:p>
            <a:pPr algn="ctr"/>
            <a:r>
              <a:rPr lang="en-US" sz="1600" dirty="0">
                <a:solidFill>
                  <a:srgbClr val="14262A"/>
                </a:solidFill>
                <a:latin typeface="Amasis MT Pro Light" panose="02040304050005020304" pitchFamily="18" charset="0"/>
              </a:rPr>
              <a:t>Variables</a:t>
            </a:r>
          </a:p>
        </p:txBody>
      </p:sp>
      <p:sp>
        <p:nvSpPr>
          <p:cNvPr id="34" name="TextBox 33">
            <a:extLst>
              <a:ext uri="{FF2B5EF4-FFF2-40B4-BE49-F238E27FC236}">
                <a16:creationId xmlns:a16="http://schemas.microsoft.com/office/drawing/2014/main" id="{BB674787-81DD-3616-F244-3619789AF60D}"/>
              </a:ext>
            </a:extLst>
          </p:cNvPr>
          <p:cNvSpPr txBox="1"/>
          <p:nvPr/>
        </p:nvSpPr>
        <p:spPr>
          <a:xfrm>
            <a:off x="3481195" y="6983046"/>
            <a:ext cx="1596079" cy="707886"/>
          </a:xfrm>
          <a:prstGeom prst="rect">
            <a:avLst/>
          </a:prstGeom>
          <a:noFill/>
        </p:spPr>
        <p:txBody>
          <a:bodyPr wrap="square" rtlCol="0">
            <a:spAutoFit/>
          </a:bodyPr>
          <a:lstStyle/>
          <a:p>
            <a:r>
              <a:rPr lang="en-US" sz="4000" dirty="0">
                <a:solidFill>
                  <a:srgbClr val="5099AA"/>
                </a:solidFill>
                <a:latin typeface="Oranienbaum" panose="02000506080000020003" pitchFamily="2" charset="0"/>
              </a:rPr>
              <a:t>$139.1K</a:t>
            </a:r>
          </a:p>
        </p:txBody>
      </p:sp>
      <p:sp>
        <p:nvSpPr>
          <p:cNvPr id="35" name="TextBox 34">
            <a:extLst>
              <a:ext uri="{FF2B5EF4-FFF2-40B4-BE49-F238E27FC236}">
                <a16:creationId xmlns:a16="http://schemas.microsoft.com/office/drawing/2014/main" id="{D1D9BE67-7CC0-CEFA-380C-A69AE35944F8}"/>
              </a:ext>
            </a:extLst>
          </p:cNvPr>
          <p:cNvSpPr txBox="1"/>
          <p:nvPr/>
        </p:nvSpPr>
        <p:spPr>
          <a:xfrm>
            <a:off x="3299036" y="7643163"/>
            <a:ext cx="2102502" cy="338554"/>
          </a:xfrm>
          <a:prstGeom prst="rect">
            <a:avLst/>
          </a:prstGeom>
          <a:noFill/>
        </p:spPr>
        <p:txBody>
          <a:bodyPr wrap="square" rtlCol="0">
            <a:spAutoFit/>
          </a:bodyPr>
          <a:lstStyle/>
          <a:p>
            <a:r>
              <a:rPr lang="en-US" sz="1600" dirty="0">
                <a:solidFill>
                  <a:srgbClr val="14262A"/>
                </a:solidFill>
                <a:latin typeface="Amasis MT Pro Light" panose="02040304050005020304" pitchFamily="18" charset="0"/>
              </a:rPr>
              <a:t>Monthly Revenue Lost</a:t>
            </a:r>
          </a:p>
        </p:txBody>
      </p:sp>
      <p:graphicFrame>
        <p:nvGraphicFramePr>
          <p:cNvPr id="36" name="Table 35">
            <a:extLst>
              <a:ext uri="{FF2B5EF4-FFF2-40B4-BE49-F238E27FC236}">
                <a16:creationId xmlns:a16="http://schemas.microsoft.com/office/drawing/2014/main" id="{94F3C4B4-5599-11E7-1516-252DA11BE30F}"/>
              </a:ext>
            </a:extLst>
          </p:cNvPr>
          <p:cNvGraphicFramePr>
            <a:graphicFrameLocks noGrp="1"/>
          </p:cNvGraphicFramePr>
          <p:nvPr>
            <p:extLst>
              <p:ext uri="{D42A27DB-BD31-4B8C-83A1-F6EECF244321}">
                <p14:modId xmlns:p14="http://schemas.microsoft.com/office/powerpoint/2010/main" val="2702206421"/>
              </p:ext>
            </p:extLst>
          </p:nvPr>
        </p:nvGraphicFramePr>
        <p:xfrm>
          <a:off x="7387166" y="1247017"/>
          <a:ext cx="7565622" cy="7232659"/>
        </p:xfrm>
        <a:graphic>
          <a:graphicData uri="http://schemas.openxmlformats.org/drawingml/2006/table">
            <a:tbl>
              <a:tblPr firstRow="1" bandRow="1">
                <a:effectLst>
                  <a:outerShdw blurRad="50800" dist="38100" dir="2700000" algn="tl" rotWithShape="0">
                    <a:prstClr val="black">
                      <a:alpha val="0"/>
                    </a:prstClr>
                  </a:outerShdw>
                </a:effectLst>
                <a:tableStyleId>{5C22544A-7EE6-4342-B048-85BDC9FD1C3A}</a:tableStyleId>
              </a:tblPr>
              <a:tblGrid>
                <a:gridCol w="2521874">
                  <a:extLst>
                    <a:ext uri="{9D8B030D-6E8A-4147-A177-3AD203B41FA5}">
                      <a16:colId xmlns:a16="http://schemas.microsoft.com/office/drawing/2014/main" val="1186558472"/>
                    </a:ext>
                  </a:extLst>
                </a:gridCol>
                <a:gridCol w="2521874">
                  <a:extLst>
                    <a:ext uri="{9D8B030D-6E8A-4147-A177-3AD203B41FA5}">
                      <a16:colId xmlns:a16="http://schemas.microsoft.com/office/drawing/2014/main" val="1674461179"/>
                    </a:ext>
                  </a:extLst>
                </a:gridCol>
                <a:gridCol w="2521874">
                  <a:extLst>
                    <a:ext uri="{9D8B030D-6E8A-4147-A177-3AD203B41FA5}">
                      <a16:colId xmlns:a16="http://schemas.microsoft.com/office/drawing/2014/main" val="2175612637"/>
                    </a:ext>
                  </a:extLst>
                </a:gridCol>
              </a:tblGrid>
              <a:tr h="1134781">
                <a:tc>
                  <a:txBody>
                    <a:bodyPr/>
                    <a:lstStyle/>
                    <a:p>
                      <a:pPr algn="ctr"/>
                      <a:r>
                        <a:rPr lang="en-US" sz="2200" dirty="0">
                          <a:latin typeface="Amasis MT Pro Light" panose="02040304050005020304" pitchFamily="18" charset="0"/>
                        </a:rPr>
                        <a:t>Category</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4262A"/>
                    </a:solidFill>
                  </a:tcPr>
                </a:tc>
                <a:tc>
                  <a:txBody>
                    <a:bodyPr/>
                    <a:lstStyle/>
                    <a:p>
                      <a:pPr algn="ctr"/>
                      <a:r>
                        <a:rPr lang="en-US" sz="2200" dirty="0">
                          <a:latin typeface="Amasis MT Pro Light" panose="02040304050005020304" pitchFamily="18" charset="0"/>
                        </a:rPr>
                        <a:t>Variables</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4262A"/>
                    </a:solidFill>
                  </a:tcPr>
                </a:tc>
                <a:tc>
                  <a:txBody>
                    <a:bodyPr/>
                    <a:lstStyle/>
                    <a:p>
                      <a:pPr algn="ctr"/>
                      <a:r>
                        <a:rPr lang="en-US" sz="2200" dirty="0">
                          <a:latin typeface="Amasis MT Pro Light" panose="02040304050005020304" pitchFamily="18" charset="0"/>
                        </a:rPr>
                        <a:t>Description</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4262A"/>
                    </a:solidFill>
                  </a:tcPr>
                </a:tc>
                <a:extLst>
                  <a:ext uri="{0D108BD9-81ED-4DB2-BD59-A6C34878D82A}">
                    <a16:rowId xmlns:a16="http://schemas.microsoft.com/office/drawing/2014/main" val="879576210"/>
                  </a:ext>
                </a:extLst>
              </a:tr>
              <a:tr h="1442384">
                <a:tc>
                  <a:txBody>
                    <a:bodyPr/>
                    <a:lstStyle/>
                    <a:p>
                      <a:r>
                        <a:rPr lang="en-US" sz="1500" kern="1200" dirty="0">
                          <a:solidFill>
                            <a:srgbClr val="14262A"/>
                          </a:solidFill>
                          <a:effectLst/>
                          <a:latin typeface="Amasis MT Pro Light" panose="02040304050005020304" pitchFamily="18" charset="0"/>
                          <a:ea typeface="+mn-ea"/>
                          <a:cs typeface="+mn-cs"/>
                        </a:rPr>
                        <a:t>Demographics</a:t>
                      </a:r>
                      <a:endParaRPr lang="en-US" sz="1500" dirty="0">
                        <a:solidFill>
                          <a:srgbClr val="14262A"/>
                        </a:solidFill>
                        <a:latin typeface="Amasis MT Pro Light" panose="02040304050005020304" pitchFamily="18" charset="0"/>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5F1EB"/>
                    </a:solidFill>
                  </a:tcPr>
                </a:tc>
                <a:tc>
                  <a:txBody>
                    <a:bodyPr/>
                    <a:lstStyle/>
                    <a:p>
                      <a:r>
                        <a:rPr lang="en-US" sz="1500" kern="1200" dirty="0">
                          <a:solidFill>
                            <a:srgbClr val="14262A"/>
                          </a:solidFill>
                          <a:effectLst/>
                          <a:latin typeface="Amasis MT Pro Light" panose="02040304050005020304" pitchFamily="18" charset="0"/>
                          <a:ea typeface="+mn-ea"/>
                          <a:cs typeface="+mn-cs"/>
                        </a:rPr>
                        <a:t>gender, SeniorCitizen, Partner, Dependents</a:t>
                      </a:r>
                      <a:endParaRPr lang="en-US" sz="1500" dirty="0">
                        <a:solidFill>
                          <a:srgbClr val="14262A"/>
                        </a:solidFill>
                        <a:latin typeface="Amasis MT Pro Light" panose="02040304050005020304" pitchFamily="18" charset="0"/>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5F1EB"/>
                    </a:solidFill>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500" kern="1200" dirty="0">
                          <a:solidFill>
                            <a:srgbClr val="14262A"/>
                          </a:solidFill>
                          <a:effectLst/>
                          <a:latin typeface="Amasis MT Pro Light" panose="02040304050005020304" pitchFamily="18" charset="0"/>
                          <a:ea typeface="+mn-ea"/>
                          <a:cs typeface="+mn-cs"/>
                        </a:rPr>
                        <a:t>Customer personal and household characteristics</a:t>
                      </a:r>
                    </a:p>
                    <a:p>
                      <a:endParaRPr lang="en-US" sz="1500" dirty="0">
                        <a:solidFill>
                          <a:srgbClr val="14262A"/>
                        </a:solidFill>
                        <a:latin typeface="Amasis MT Pro Light" panose="02040304050005020304" pitchFamily="18" charset="0"/>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5F1EB"/>
                    </a:solidFill>
                  </a:tcPr>
                </a:tc>
                <a:extLst>
                  <a:ext uri="{0D108BD9-81ED-4DB2-BD59-A6C34878D82A}">
                    <a16:rowId xmlns:a16="http://schemas.microsoft.com/office/drawing/2014/main" val="2966633883"/>
                  </a:ext>
                </a:extLst>
              </a:tr>
              <a:tr h="1770726">
                <a:tc>
                  <a:txBody>
                    <a:bodyPr/>
                    <a:lstStyle/>
                    <a:p>
                      <a:r>
                        <a:rPr lang="en-US" sz="1500" kern="1200" dirty="0">
                          <a:solidFill>
                            <a:srgbClr val="14262A"/>
                          </a:solidFill>
                          <a:effectLst/>
                          <a:latin typeface="Amasis MT Pro Light" panose="02040304050005020304" pitchFamily="18" charset="0"/>
                          <a:ea typeface="+mn-ea"/>
                          <a:cs typeface="+mn-cs"/>
                        </a:rPr>
                        <a:t>Contract and Billing</a:t>
                      </a:r>
                      <a:endParaRPr lang="en-US" sz="1500" dirty="0">
                        <a:solidFill>
                          <a:srgbClr val="14262A"/>
                        </a:solidFill>
                        <a:latin typeface="Amasis MT Pro Light" panose="02040304050005020304" pitchFamily="18" charset="0"/>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DE8E0"/>
                    </a:solidFill>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500" kern="1200" dirty="0">
                          <a:solidFill>
                            <a:srgbClr val="14262A"/>
                          </a:solidFill>
                          <a:effectLst/>
                          <a:latin typeface="Amasis MT Pro Light" panose="02040304050005020304" pitchFamily="18" charset="0"/>
                          <a:ea typeface="+mn-ea"/>
                          <a:cs typeface="+mn-cs"/>
                        </a:rPr>
                        <a:t>PhoneService, MultipleLines, InternetService, OnlineSecurity, OnlineBackup, DeviceProtection, TechSupport, StreamingTV, StreamingMovies</a:t>
                      </a:r>
                    </a:p>
                    <a:p>
                      <a:endParaRPr lang="en-US" sz="1500" dirty="0">
                        <a:solidFill>
                          <a:srgbClr val="14262A"/>
                        </a:solidFill>
                        <a:latin typeface="Amasis MT Pro Light" panose="02040304050005020304" pitchFamily="18" charset="0"/>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DE8E0"/>
                    </a:solidFill>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500" kern="1200" dirty="0">
                          <a:solidFill>
                            <a:srgbClr val="14262A"/>
                          </a:solidFill>
                          <a:effectLst/>
                          <a:latin typeface="Amasis MT Pro Light" panose="02040304050005020304" pitchFamily="18" charset="0"/>
                          <a:ea typeface="+mn-ea"/>
                          <a:cs typeface="+mn-cs"/>
                        </a:rPr>
                        <a:t>Subscribed telecom and value-added services</a:t>
                      </a:r>
                    </a:p>
                    <a:p>
                      <a:endParaRPr lang="en-US" sz="1500" dirty="0">
                        <a:solidFill>
                          <a:srgbClr val="14262A"/>
                        </a:solidFill>
                        <a:latin typeface="Amasis MT Pro Light" panose="02040304050005020304" pitchFamily="18" charset="0"/>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DE8E0"/>
                    </a:solidFill>
                  </a:tcPr>
                </a:tc>
                <a:extLst>
                  <a:ext uri="{0D108BD9-81ED-4DB2-BD59-A6C34878D82A}">
                    <a16:rowId xmlns:a16="http://schemas.microsoft.com/office/drawing/2014/main" val="1376423719"/>
                  </a:ext>
                </a:extLst>
              </a:tr>
              <a:tr h="1442384">
                <a:tc>
                  <a:txBody>
                    <a:bodyPr/>
                    <a:lstStyle/>
                    <a:p>
                      <a:r>
                        <a:rPr lang="en-US" sz="1500" kern="1200" dirty="0">
                          <a:solidFill>
                            <a:srgbClr val="14262A"/>
                          </a:solidFill>
                          <a:effectLst/>
                          <a:latin typeface="Amasis MT Pro Light" panose="02040304050005020304" pitchFamily="18" charset="0"/>
                          <a:ea typeface="+mn-ea"/>
                          <a:cs typeface="+mn-cs"/>
                        </a:rPr>
                        <a:t>Services</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5F1EB"/>
                    </a:solidFill>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500" kern="1200" dirty="0">
                          <a:solidFill>
                            <a:srgbClr val="14262A"/>
                          </a:solidFill>
                          <a:effectLst/>
                          <a:latin typeface="Amasis MT Pro Light" panose="02040304050005020304" pitchFamily="18" charset="0"/>
                          <a:ea typeface="+mn-ea"/>
                          <a:cs typeface="+mn-cs"/>
                        </a:rPr>
                        <a:t>Contract, PaperlessBilling, PaymentMethod, MonthlyCharges, TotalCharges, tenure</a:t>
                      </a:r>
                    </a:p>
                    <a:p>
                      <a:endParaRPr lang="en-US" sz="1500" kern="1200" dirty="0">
                        <a:solidFill>
                          <a:srgbClr val="14262A"/>
                        </a:solidFill>
                        <a:effectLst/>
                        <a:latin typeface="Amasis MT Pro Light" panose="02040304050005020304" pitchFamily="18" charset="0"/>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5F1EB"/>
                    </a:solidFill>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500" kern="1200" dirty="0">
                          <a:solidFill>
                            <a:srgbClr val="14262A"/>
                          </a:solidFill>
                          <a:effectLst/>
                          <a:latin typeface="Amasis MT Pro Light" panose="02040304050005020304" pitchFamily="18" charset="0"/>
                          <a:ea typeface="+mn-ea"/>
                          <a:cs typeface="+mn-cs"/>
                        </a:rPr>
                        <a:t>Contract terms, payment preferences, and billing details</a:t>
                      </a:r>
                    </a:p>
                    <a:p>
                      <a:endParaRPr lang="en-US" sz="1500" kern="1200" dirty="0">
                        <a:solidFill>
                          <a:srgbClr val="14262A"/>
                        </a:solidFill>
                        <a:effectLst/>
                        <a:latin typeface="Amasis MT Pro Light" panose="02040304050005020304" pitchFamily="18" charset="0"/>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5F1EB"/>
                    </a:solidFill>
                  </a:tcPr>
                </a:tc>
                <a:extLst>
                  <a:ext uri="{0D108BD9-81ED-4DB2-BD59-A6C34878D82A}">
                    <a16:rowId xmlns:a16="http://schemas.microsoft.com/office/drawing/2014/main" val="3080444595"/>
                  </a:ext>
                </a:extLst>
              </a:tr>
              <a:tr h="1442384">
                <a:tc>
                  <a:txBody>
                    <a:bodyPr/>
                    <a:lstStyle/>
                    <a:p>
                      <a:pPr marL="0" marR="0">
                        <a:lnSpc>
                          <a:spcPct val="115000"/>
                        </a:lnSpc>
                        <a:spcBef>
                          <a:spcPts val="0"/>
                        </a:spcBef>
                        <a:spcAft>
                          <a:spcPts val="0"/>
                        </a:spcAft>
                      </a:pPr>
                      <a:r>
                        <a:rPr lang="en-US" sz="1500" kern="1200" dirty="0">
                          <a:solidFill>
                            <a:srgbClr val="14262A"/>
                          </a:solidFill>
                          <a:effectLst/>
                          <a:latin typeface="Amasis MT Pro Light" panose="02040304050005020304" pitchFamily="18" charset="0"/>
                          <a:ea typeface="+mn-ea"/>
                          <a:cs typeface="+mn-cs"/>
                        </a:rPr>
                        <a:t>Target Variable</a:t>
                      </a:r>
                    </a:p>
                  </a:txBody>
                  <a:tcPr marL="68580" marR="6858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DE8E0"/>
                    </a:solidFill>
                  </a:tcPr>
                </a:tc>
                <a:tc>
                  <a:txBody>
                    <a:bodyPr/>
                    <a:lstStyle/>
                    <a:p>
                      <a:r>
                        <a:rPr lang="en-US" sz="1500" kern="1200" dirty="0">
                          <a:solidFill>
                            <a:srgbClr val="14262A"/>
                          </a:solidFill>
                          <a:effectLst/>
                          <a:latin typeface="Amasis MT Pro Light" panose="02040304050005020304" pitchFamily="18" charset="0"/>
                          <a:ea typeface="+mn-ea"/>
                          <a:cs typeface="+mn-cs"/>
                        </a:rPr>
                        <a:t>Churn (Yes / No)</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DE8E0"/>
                    </a:solidFill>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500" kern="1200" dirty="0">
                          <a:solidFill>
                            <a:srgbClr val="14262A"/>
                          </a:solidFill>
                          <a:effectLst/>
                          <a:latin typeface="Amasis MT Pro Light" panose="02040304050005020304" pitchFamily="18" charset="0"/>
                          <a:ea typeface="+mn-ea"/>
                          <a:cs typeface="+mn-cs"/>
                        </a:rPr>
                        <a:t>Whether the customer left within the last month</a:t>
                      </a:r>
                    </a:p>
                    <a:p>
                      <a:endParaRPr lang="en-US" sz="1500" kern="1200" dirty="0">
                        <a:solidFill>
                          <a:srgbClr val="14262A"/>
                        </a:solidFill>
                        <a:effectLst/>
                        <a:latin typeface="Amasis MT Pro Light" panose="02040304050005020304" pitchFamily="18" charset="0"/>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DE8E0"/>
                    </a:solidFill>
                  </a:tcPr>
                </a:tc>
                <a:extLst>
                  <a:ext uri="{0D108BD9-81ED-4DB2-BD59-A6C34878D82A}">
                    <a16:rowId xmlns:a16="http://schemas.microsoft.com/office/drawing/2014/main" val="3386242067"/>
                  </a:ext>
                </a:extLst>
              </a:tr>
            </a:tbl>
          </a:graphicData>
        </a:graphic>
      </p:graphicFrame>
      <p:sp>
        <p:nvSpPr>
          <p:cNvPr id="37" name="Rectangle 36">
            <a:extLst>
              <a:ext uri="{FF2B5EF4-FFF2-40B4-BE49-F238E27FC236}">
                <a16:creationId xmlns:a16="http://schemas.microsoft.com/office/drawing/2014/main" id="{295611D5-BA11-61DC-1F53-6E8CE2A101E3}"/>
              </a:ext>
            </a:extLst>
          </p:cNvPr>
          <p:cNvSpPr/>
          <p:nvPr/>
        </p:nvSpPr>
        <p:spPr>
          <a:xfrm flipV="1">
            <a:off x="1536507" y="6527313"/>
            <a:ext cx="5488458" cy="27432"/>
          </a:xfrm>
          <a:prstGeom prst="rect">
            <a:avLst/>
          </a:prstGeom>
          <a:solidFill>
            <a:srgbClr val="1426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69F7504F-269F-B96E-8601-B61D728B3AAA}"/>
              </a:ext>
            </a:extLst>
          </p:cNvPr>
          <p:cNvSpPr txBox="1"/>
          <p:nvPr/>
        </p:nvSpPr>
        <p:spPr>
          <a:xfrm>
            <a:off x="7277984" y="790659"/>
            <a:ext cx="6246947" cy="338554"/>
          </a:xfrm>
          <a:prstGeom prst="rect">
            <a:avLst/>
          </a:prstGeom>
          <a:noFill/>
        </p:spPr>
        <p:txBody>
          <a:bodyPr wrap="square" rtlCol="0">
            <a:spAutoFit/>
          </a:bodyPr>
          <a:lstStyle/>
          <a:p>
            <a:r>
              <a:rPr lang="en-US" sz="1600" spc="300" dirty="0">
                <a:solidFill>
                  <a:srgbClr val="5099AA"/>
                </a:solidFill>
                <a:latin typeface="Calibri Light" panose="020F0302020204030204" pitchFamily="34" charset="0"/>
                <a:ea typeface="Calibri Light" panose="020F0302020204030204" pitchFamily="34" charset="0"/>
                <a:cs typeface="Calibri Light" panose="020F0302020204030204" pitchFamily="34" charset="0"/>
              </a:rPr>
              <a:t>VARIABLE CATEGORIES</a:t>
            </a:r>
          </a:p>
        </p:txBody>
      </p:sp>
    </p:spTree>
    <p:extLst>
      <p:ext uri="{BB962C8B-B14F-4D97-AF65-F5344CB8AC3E}">
        <p14:creationId xmlns:p14="http://schemas.microsoft.com/office/powerpoint/2010/main" val="34233488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1EB"/>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F138FB7-9F29-B65E-2E10-1F58AB0A0DBE}"/>
              </a:ext>
            </a:extLst>
          </p:cNvPr>
          <p:cNvSpPr txBox="1"/>
          <p:nvPr/>
        </p:nvSpPr>
        <p:spPr>
          <a:xfrm>
            <a:off x="976183" y="642551"/>
            <a:ext cx="14786981" cy="707886"/>
          </a:xfrm>
          <a:prstGeom prst="rect">
            <a:avLst/>
          </a:prstGeom>
          <a:noFill/>
        </p:spPr>
        <p:txBody>
          <a:bodyPr wrap="square" rtlCol="0">
            <a:spAutoFit/>
          </a:bodyPr>
          <a:lstStyle/>
          <a:p>
            <a:r>
              <a:rPr lang="en-US" sz="4000" dirty="0">
                <a:solidFill>
                  <a:srgbClr val="14262A"/>
                </a:solidFill>
                <a:latin typeface="Amasis MT Pro Light" panose="02040304050005020304" pitchFamily="18" charset="0"/>
              </a:rPr>
              <a:t>End-to-End Analysis Pipeline: Three Phases from Raw Data to Insights</a:t>
            </a:r>
          </a:p>
        </p:txBody>
      </p:sp>
      <p:sp>
        <p:nvSpPr>
          <p:cNvPr id="5" name="Rectangle 4">
            <a:extLst>
              <a:ext uri="{FF2B5EF4-FFF2-40B4-BE49-F238E27FC236}">
                <a16:creationId xmlns:a16="http://schemas.microsoft.com/office/drawing/2014/main" id="{10092EF7-4697-3B8A-85FC-1DF51257E280}"/>
              </a:ext>
            </a:extLst>
          </p:cNvPr>
          <p:cNvSpPr/>
          <p:nvPr/>
        </p:nvSpPr>
        <p:spPr>
          <a:xfrm rot="5400000" flipV="1">
            <a:off x="556886" y="950774"/>
            <a:ext cx="574161" cy="91440"/>
          </a:xfrm>
          <a:prstGeom prst="rect">
            <a:avLst/>
          </a:prstGeom>
          <a:solidFill>
            <a:srgbClr val="5099AA"/>
          </a:solidFill>
          <a:ln>
            <a:noFill/>
          </a:ln>
          <a:effectLst>
            <a:outerShdw blurRad="50800" dist="38100" dir="2700000" algn="tl" rotWithShape="0">
              <a:prstClr val="black">
                <a:alpha val="12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2BD6C5F8-5A5D-2705-1AC0-9D80B5F28EB7}"/>
              </a:ext>
            </a:extLst>
          </p:cNvPr>
          <p:cNvSpPr/>
          <p:nvPr/>
        </p:nvSpPr>
        <p:spPr>
          <a:xfrm>
            <a:off x="788084" y="2854658"/>
            <a:ext cx="4701802" cy="3289110"/>
          </a:xfrm>
          <a:prstGeom prst="rect">
            <a:avLst/>
          </a:prstGeom>
          <a:solidFill>
            <a:srgbClr val="EDE8E0"/>
          </a:solidFill>
          <a:ln>
            <a:noFill/>
          </a:ln>
          <a:effectLst>
            <a:outerShdw blurRad="50800" dist="38100" dir="2700000" algn="tl" rotWithShape="0">
              <a:prstClr val="black">
                <a:alpha val="9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A04D6B84-1680-54C3-6311-C9CBB975A949}"/>
              </a:ext>
            </a:extLst>
          </p:cNvPr>
          <p:cNvSpPr/>
          <p:nvPr/>
        </p:nvSpPr>
        <p:spPr>
          <a:xfrm>
            <a:off x="5929804" y="4303753"/>
            <a:ext cx="4701802" cy="3289110"/>
          </a:xfrm>
          <a:prstGeom prst="rect">
            <a:avLst/>
          </a:prstGeom>
          <a:solidFill>
            <a:srgbClr val="EDE8E0"/>
          </a:solidFill>
          <a:ln>
            <a:noFill/>
          </a:ln>
          <a:effectLst>
            <a:outerShdw blurRad="50800" dist="38100" dir="2700000" algn="tl" rotWithShape="0">
              <a:prstClr val="black">
                <a:alpha val="9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F37AD0B4-5D41-4CC5-93B1-AB9B27C05BC4}"/>
              </a:ext>
            </a:extLst>
          </p:cNvPr>
          <p:cNvSpPr/>
          <p:nvPr/>
        </p:nvSpPr>
        <p:spPr>
          <a:xfrm>
            <a:off x="11061362" y="2854658"/>
            <a:ext cx="4701802" cy="3289110"/>
          </a:xfrm>
          <a:prstGeom prst="rect">
            <a:avLst/>
          </a:prstGeom>
          <a:solidFill>
            <a:srgbClr val="EDE8E0"/>
          </a:solidFill>
          <a:ln>
            <a:noFill/>
          </a:ln>
          <a:effectLst>
            <a:outerShdw blurRad="50800" dist="38100" dir="2700000" algn="tl" rotWithShape="0">
              <a:prstClr val="black">
                <a:alpha val="9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4" name="Connector: Elbow 23">
            <a:extLst>
              <a:ext uri="{FF2B5EF4-FFF2-40B4-BE49-F238E27FC236}">
                <a16:creationId xmlns:a16="http://schemas.microsoft.com/office/drawing/2014/main" id="{2E427A93-DB07-7750-3B9D-62751B306AF5}"/>
              </a:ext>
            </a:extLst>
          </p:cNvPr>
          <p:cNvCxnSpPr>
            <a:cxnSpLocks/>
          </p:cNvCxnSpPr>
          <p:nvPr/>
        </p:nvCxnSpPr>
        <p:spPr>
          <a:xfrm>
            <a:off x="5489886" y="5463220"/>
            <a:ext cx="429756" cy="354842"/>
          </a:xfrm>
          <a:prstGeom prst="bentConnector3">
            <a:avLst>
              <a:gd name="adj1" fmla="val 50000"/>
            </a:avLst>
          </a:prstGeom>
          <a:ln w="25400">
            <a:solidFill>
              <a:srgbClr val="5099AA"/>
            </a:solidFill>
            <a:tailEnd type="triangle"/>
          </a:ln>
          <a:effectLst>
            <a:outerShdw blurRad="50800" dist="38100" dir="2700000" algn="tl" rotWithShape="0">
              <a:prstClr val="black">
                <a:alpha val="13000"/>
              </a:prstClr>
            </a:outerShdw>
          </a:effectLst>
        </p:spPr>
        <p:style>
          <a:lnRef idx="2">
            <a:schemeClr val="accent1"/>
          </a:lnRef>
          <a:fillRef idx="0">
            <a:schemeClr val="accent1"/>
          </a:fillRef>
          <a:effectRef idx="1">
            <a:schemeClr val="accent1"/>
          </a:effectRef>
          <a:fontRef idx="minor">
            <a:schemeClr val="tx1"/>
          </a:fontRef>
        </p:style>
      </p:cxnSp>
      <p:cxnSp>
        <p:nvCxnSpPr>
          <p:cNvPr id="42" name="Connector: Elbow 41">
            <a:extLst>
              <a:ext uri="{FF2B5EF4-FFF2-40B4-BE49-F238E27FC236}">
                <a16:creationId xmlns:a16="http://schemas.microsoft.com/office/drawing/2014/main" id="{E4247D32-03FB-3DAB-6D20-92CF6EB831FC}"/>
              </a:ext>
            </a:extLst>
          </p:cNvPr>
          <p:cNvCxnSpPr>
            <a:cxnSpLocks/>
          </p:cNvCxnSpPr>
          <p:nvPr/>
        </p:nvCxnSpPr>
        <p:spPr>
          <a:xfrm flipV="1">
            <a:off x="10631606" y="5499354"/>
            <a:ext cx="429756" cy="318708"/>
          </a:xfrm>
          <a:prstGeom prst="bentConnector3">
            <a:avLst>
              <a:gd name="adj1" fmla="val 50000"/>
            </a:avLst>
          </a:prstGeom>
          <a:ln w="25400">
            <a:solidFill>
              <a:srgbClr val="5099AA"/>
            </a:solidFill>
            <a:tailEnd type="triangle"/>
          </a:ln>
          <a:effectLst>
            <a:outerShdw blurRad="50800" dist="38100" dir="2700000" algn="tl" rotWithShape="0">
              <a:prstClr val="black">
                <a:alpha val="13000"/>
              </a:prstClr>
            </a:outerShdw>
          </a:effectLst>
        </p:spPr>
        <p:style>
          <a:lnRef idx="2">
            <a:schemeClr val="accent1"/>
          </a:lnRef>
          <a:fillRef idx="0">
            <a:schemeClr val="accent1"/>
          </a:fillRef>
          <a:effectRef idx="1">
            <a:schemeClr val="accent1"/>
          </a:effectRef>
          <a:fontRef idx="minor">
            <a:schemeClr val="tx1"/>
          </a:fontRef>
        </p:style>
      </p:cxnSp>
      <p:sp>
        <p:nvSpPr>
          <p:cNvPr id="43" name="TextBox 42">
            <a:extLst>
              <a:ext uri="{FF2B5EF4-FFF2-40B4-BE49-F238E27FC236}">
                <a16:creationId xmlns:a16="http://schemas.microsoft.com/office/drawing/2014/main" id="{C613CA68-43CC-7F61-EFC1-AE5CCCD754B1}"/>
              </a:ext>
            </a:extLst>
          </p:cNvPr>
          <p:cNvSpPr txBox="1"/>
          <p:nvPr/>
        </p:nvSpPr>
        <p:spPr>
          <a:xfrm>
            <a:off x="976183" y="3115762"/>
            <a:ext cx="1000467" cy="954107"/>
          </a:xfrm>
          <a:prstGeom prst="rect">
            <a:avLst/>
          </a:prstGeom>
          <a:noFill/>
        </p:spPr>
        <p:txBody>
          <a:bodyPr wrap="square" rtlCol="0">
            <a:spAutoFit/>
          </a:bodyPr>
          <a:lstStyle/>
          <a:p>
            <a:r>
              <a:rPr lang="en-US" sz="5600" dirty="0">
                <a:solidFill>
                  <a:srgbClr val="5099AA"/>
                </a:solidFill>
                <a:latin typeface="Oranienbaum" panose="02000506080000020003" pitchFamily="2" charset="0"/>
              </a:rPr>
              <a:t>01.</a:t>
            </a:r>
          </a:p>
        </p:txBody>
      </p:sp>
      <p:sp>
        <p:nvSpPr>
          <p:cNvPr id="44" name="TextBox 43">
            <a:extLst>
              <a:ext uri="{FF2B5EF4-FFF2-40B4-BE49-F238E27FC236}">
                <a16:creationId xmlns:a16="http://schemas.microsoft.com/office/drawing/2014/main" id="{64C0D423-05B5-7715-B3FC-C7DF3C2F8F02}"/>
              </a:ext>
            </a:extLst>
          </p:cNvPr>
          <p:cNvSpPr txBox="1"/>
          <p:nvPr/>
        </p:nvSpPr>
        <p:spPr>
          <a:xfrm>
            <a:off x="1867468" y="3396319"/>
            <a:ext cx="3345461" cy="430887"/>
          </a:xfrm>
          <a:prstGeom prst="rect">
            <a:avLst/>
          </a:prstGeom>
          <a:noFill/>
        </p:spPr>
        <p:txBody>
          <a:bodyPr wrap="square" rtlCol="0">
            <a:spAutoFit/>
          </a:bodyPr>
          <a:lstStyle/>
          <a:p>
            <a:r>
              <a:rPr lang="en-US" sz="2200" dirty="0">
                <a:solidFill>
                  <a:srgbClr val="14262A"/>
                </a:solidFill>
                <a:latin typeface="Oranienbaum" panose="02000506080000020003" pitchFamily="2" charset="0"/>
              </a:rPr>
              <a:t>Data Cleaning &amp; Preparation</a:t>
            </a:r>
          </a:p>
        </p:txBody>
      </p:sp>
      <p:sp>
        <p:nvSpPr>
          <p:cNvPr id="45" name="Rectangle 44">
            <a:extLst>
              <a:ext uri="{FF2B5EF4-FFF2-40B4-BE49-F238E27FC236}">
                <a16:creationId xmlns:a16="http://schemas.microsoft.com/office/drawing/2014/main" id="{379600AF-3EE0-75E7-CE06-52C42EA08557}"/>
              </a:ext>
            </a:extLst>
          </p:cNvPr>
          <p:cNvSpPr/>
          <p:nvPr/>
        </p:nvSpPr>
        <p:spPr>
          <a:xfrm flipV="1">
            <a:off x="1976650" y="3799774"/>
            <a:ext cx="1162335" cy="27432"/>
          </a:xfrm>
          <a:prstGeom prst="rect">
            <a:avLst/>
          </a:prstGeom>
          <a:solidFill>
            <a:srgbClr val="5099AA"/>
          </a:solidFill>
          <a:ln>
            <a:noFill/>
          </a:ln>
          <a:effectLst>
            <a:outerShdw blurRad="50800" dist="38100" dir="2700000" algn="tl" rotWithShape="0">
              <a:prstClr val="black">
                <a:alpha val="14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3D4F8E78-B322-215D-65DF-B3C5801931A0}"/>
              </a:ext>
            </a:extLst>
          </p:cNvPr>
          <p:cNvSpPr txBox="1"/>
          <p:nvPr/>
        </p:nvSpPr>
        <p:spPr>
          <a:xfrm>
            <a:off x="976183" y="4303753"/>
            <a:ext cx="4345928" cy="307777"/>
          </a:xfrm>
          <a:prstGeom prst="rect">
            <a:avLst/>
          </a:prstGeom>
          <a:noFill/>
        </p:spPr>
        <p:txBody>
          <a:bodyPr wrap="square" rtlCol="0">
            <a:spAutoFit/>
          </a:bodyPr>
          <a:lstStyle/>
          <a:p>
            <a:r>
              <a:rPr lang="en-US" sz="1400" dirty="0">
                <a:solidFill>
                  <a:srgbClr val="14262A"/>
                </a:solidFill>
                <a:latin typeface="Amasis MT Pro Light" panose="02040304050005020304" pitchFamily="18" charset="0"/>
              </a:rPr>
              <a:t>Checked for duplicates and found none in the dataset.</a:t>
            </a:r>
          </a:p>
        </p:txBody>
      </p:sp>
      <p:sp>
        <p:nvSpPr>
          <p:cNvPr id="48" name="TextBox 47">
            <a:extLst>
              <a:ext uri="{FF2B5EF4-FFF2-40B4-BE49-F238E27FC236}">
                <a16:creationId xmlns:a16="http://schemas.microsoft.com/office/drawing/2014/main" id="{AFC00D6B-970D-AB45-50D7-9B8111DCC681}"/>
              </a:ext>
            </a:extLst>
          </p:cNvPr>
          <p:cNvSpPr txBox="1"/>
          <p:nvPr/>
        </p:nvSpPr>
        <p:spPr>
          <a:xfrm>
            <a:off x="976183" y="4691576"/>
            <a:ext cx="4345928" cy="523220"/>
          </a:xfrm>
          <a:prstGeom prst="rect">
            <a:avLst/>
          </a:prstGeom>
          <a:noFill/>
        </p:spPr>
        <p:txBody>
          <a:bodyPr wrap="square" rtlCol="0">
            <a:spAutoFit/>
          </a:bodyPr>
          <a:lstStyle/>
          <a:p>
            <a:r>
              <a:rPr lang="en-US" sz="1400" dirty="0">
                <a:solidFill>
                  <a:srgbClr val="14262A"/>
                </a:solidFill>
                <a:latin typeface="Amasis MT Pro Light" panose="02040304050005020304" pitchFamily="18" charset="0"/>
              </a:rPr>
              <a:t>Handled missing values that were found in the ‘TotalCharges’</a:t>
            </a:r>
            <a:r>
              <a:rPr lang="en-US" sz="1400" b="1" dirty="0">
                <a:solidFill>
                  <a:srgbClr val="14262A"/>
                </a:solidFill>
                <a:latin typeface="Amasis MT Pro Light" panose="02040304050005020304" pitchFamily="18" charset="0"/>
              </a:rPr>
              <a:t> </a:t>
            </a:r>
            <a:r>
              <a:rPr lang="en-US" sz="1400" dirty="0">
                <a:solidFill>
                  <a:srgbClr val="14262A"/>
                </a:solidFill>
                <a:latin typeface="Amasis MT Pro Light" panose="02040304050005020304" pitchFamily="18" charset="0"/>
              </a:rPr>
              <a:t>column.</a:t>
            </a:r>
          </a:p>
        </p:txBody>
      </p:sp>
      <p:sp>
        <p:nvSpPr>
          <p:cNvPr id="49" name="TextBox 48">
            <a:extLst>
              <a:ext uri="{FF2B5EF4-FFF2-40B4-BE49-F238E27FC236}">
                <a16:creationId xmlns:a16="http://schemas.microsoft.com/office/drawing/2014/main" id="{47D9E4EC-5EAF-6315-2E39-12228F068751}"/>
              </a:ext>
            </a:extLst>
          </p:cNvPr>
          <p:cNvSpPr txBox="1"/>
          <p:nvPr/>
        </p:nvSpPr>
        <p:spPr>
          <a:xfrm>
            <a:off x="976183" y="5294842"/>
            <a:ext cx="4345928" cy="523220"/>
          </a:xfrm>
          <a:prstGeom prst="rect">
            <a:avLst/>
          </a:prstGeom>
          <a:noFill/>
        </p:spPr>
        <p:txBody>
          <a:bodyPr wrap="square" rtlCol="0">
            <a:spAutoFit/>
          </a:bodyPr>
          <a:lstStyle/>
          <a:p>
            <a:r>
              <a:rPr lang="en-US" sz="1400" dirty="0">
                <a:solidFill>
                  <a:srgbClr val="14262A"/>
                </a:solidFill>
                <a:latin typeface="Amasis MT Pro Light" panose="02040304050005020304" pitchFamily="18" charset="0"/>
              </a:rPr>
              <a:t>Converted text data type to numerical in the same column after handling missing values.</a:t>
            </a:r>
          </a:p>
        </p:txBody>
      </p:sp>
      <p:sp>
        <p:nvSpPr>
          <p:cNvPr id="50" name="TextBox 49">
            <a:extLst>
              <a:ext uri="{FF2B5EF4-FFF2-40B4-BE49-F238E27FC236}">
                <a16:creationId xmlns:a16="http://schemas.microsoft.com/office/drawing/2014/main" id="{2592B3C1-0572-633B-7D9A-796E5CB4632B}"/>
              </a:ext>
            </a:extLst>
          </p:cNvPr>
          <p:cNvSpPr txBox="1"/>
          <p:nvPr/>
        </p:nvSpPr>
        <p:spPr>
          <a:xfrm>
            <a:off x="6107741" y="4400406"/>
            <a:ext cx="1162335" cy="954107"/>
          </a:xfrm>
          <a:prstGeom prst="rect">
            <a:avLst/>
          </a:prstGeom>
          <a:noFill/>
        </p:spPr>
        <p:txBody>
          <a:bodyPr wrap="square" rtlCol="0">
            <a:spAutoFit/>
          </a:bodyPr>
          <a:lstStyle/>
          <a:p>
            <a:r>
              <a:rPr lang="en-US" sz="5600" dirty="0">
                <a:solidFill>
                  <a:srgbClr val="5099AA"/>
                </a:solidFill>
                <a:latin typeface="Oranienbaum" panose="02000506080000020003" pitchFamily="2" charset="0"/>
              </a:rPr>
              <a:t>02.</a:t>
            </a:r>
          </a:p>
        </p:txBody>
      </p:sp>
      <p:sp>
        <p:nvSpPr>
          <p:cNvPr id="51" name="TextBox 50">
            <a:extLst>
              <a:ext uri="{FF2B5EF4-FFF2-40B4-BE49-F238E27FC236}">
                <a16:creationId xmlns:a16="http://schemas.microsoft.com/office/drawing/2014/main" id="{2F74F34D-A9DD-E11E-A8E1-81E5ECC80628}"/>
              </a:ext>
            </a:extLst>
          </p:cNvPr>
          <p:cNvSpPr txBox="1"/>
          <p:nvPr/>
        </p:nvSpPr>
        <p:spPr>
          <a:xfrm>
            <a:off x="7108208" y="4680963"/>
            <a:ext cx="3345461" cy="430887"/>
          </a:xfrm>
          <a:prstGeom prst="rect">
            <a:avLst/>
          </a:prstGeom>
          <a:noFill/>
        </p:spPr>
        <p:txBody>
          <a:bodyPr wrap="square" rtlCol="0">
            <a:spAutoFit/>
          </a:bodyPr>
          <a:lstStyle/>
          <a:p>
            <a:r>
              <a:rPr lang="en-US" sz="2200" dirty="0">
                <a:solidFill>
                  <a:srgbClr val="14262A"/>
                </a:solidFill>
                <a:latin typeface="Oranienbaum" panose="02000506080000020003" pitchFamily="2" charset="0"/>
              </a:rPr>
              <a:t>Exploratory Data Analysis</a:t>
            </a:r>
          </a:p>
        </p:txBody>
      </p:sp>
      <p:sp>
        <p:nvSpPr>
          <p:cNvPr id="52" name="Rectangle 51">
            <a:extLst>
              <a:ext uri="{FF2B5EF4-FFF2-40B4-BE49-F238E27FC236}">
                <a16:creationId xmlns:a16="http://schemas.microsoft.com/office/drawing/2014/main" id="{E1434FA7-4205-3C09-29CB-3782C42CFB60}"/>
              </a:ext>
            </a:extLst>
          </p:cNvPr>
          <p:cNvSpPr/>
          <p:nvPr/>
        </p:nvSpPr>
        <p:spPr>
          <a:xfrm flipV="1">
            <a:off x="7207839" y="5084418"/>
            <a:ext cx="1162335" cy="27432"/>
          </a:xfrm>
          <a:prstGeom prst="rect">
            <a:avLst/>
          </a:prstGeom>
          <a:solidFill>
            <a:srgbClr val="5099AA"/>
          </a:solidFill>
          <a:ln>
            <a:noFill/>
          </a:ln>
          <a:effectLst>
            <a:outerShdw blurRad="50800" dist="38100" dir="27000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a:extLst>
              <a:ext uri="{FF2B5EF4-FFF2-40B4-BE49-F238E27FC236}">
                <a16:creationId xmlns:a16="http://schemas.microsoft.com/office/drawing/2014/main" id="{95E46A56-7919-B17A-CECD-2EC3D668AEAB}"/>
              </a:ext>
            </a:extLst>
          </p:cNvPr>
          <p:cNvSpPr txBox="1"/>
          <p:nvPr/>
        </p:nvSpPr>
        <p:spPr>
          <a:xfrm>
            <a:off x="6107741" y="5588397"/>
            <a:ext cx="4345928" cy="523220"/>
          </a:xfrm>
          <a:prstGeom prst="rect">
            <a:avLst/>
          </a:prstGeom>
          <a:noFill/>
        </p:spPr>
        <p:txBody>
          <a:bodyPr wrap="square" rtlCol="0">
            <a:spAutoFit/>
          </a:bodyPr>
          <a:lstStyle/>
          <a:p>
            <a:r>
              <a:rPr lang="en-US" sz="1400" dirty="0">
                <a:solidFill>
                  <a:srgbClr val="14262A"/>
                </a:solidFill>
                <a:latin typeface="Amasis MT Pro Light" panose="02040304050005020304" pitchFamily="18" charset="0"/>
              </a:rPr>
              <a:t>Univariate analysis for understanding each variable distribution and customer segments.</a:t>
            </a:r>
          </a:p>
        </p:txBody>
      </p:sp>
      <p:sp>
        <p:nvSpPr>
          <p:cNvPr id="54" name="TextBox 53">
            <a:extLst>
              <a:ext uri="{FF2B5EF4-FFF2-40B4-BE49-F238E27FC236}">
                <a16:creationId xmlns:a16="http://schemas.microsoft.com/office/drawing/2014/main" id="{BAF6CECD-AA57-1F6A-E191-9B87B820B6F5}"/>
              </a:ext>
            </a:extLst>
          </p:cNvPr>
          <p:cNvSpPr txBox="1"/>
          <p:nvPr/>
        </p:nvSpPr>
        <p:spPr>
          <a:xfrm>
            <a:off x="6102660" y="6083942"/>
            <a:ext cx="4345928" cy="523220"/>
          </a:xfrm>
          <a:prstGeom prst="rect">
            <a:avLst/>
          </a:prstGeom>
          <a:noFill/>
        </p:spPr>
        <p:txBody>
          <a:bodyPr wrap="square" rtlCol="0">
            <a:spAutoFit/>
          </a:bodyPr>
          <a:lstStyle/>
          <a:p>
            <a:r>
              <a:rPr lang="en-US" sz="1400" dirty="0">
                <a:solidFill>
                  <a:srgbClr val="14262A"/>
                </a:solidFill>
                <a:latin typeface="Amasis MT Pro Light" panose="02040304050005020304" pitchFamily="18" charset="0"/>
              </a:rPr>
              <a:t>Bivariate analysis for comparing each variable to churn to identify key drivers of customer attrition.</a:t>
            </a:r>
          </a:p>
        </p:txBody>
      </p:sp>
      <p:sp>
        <p:nvSpPr>
          <p:cNvPr id="55" name="TextBox 54">
            <a:extLst>
              <a:ext uri="{FF2B5EF4-FFF2-40B4-BE49-F238E27FC236}">
                <a16:creationId xmlns:a16="http://schemas.microsoft.com/office/drawing/2014/main" id="{AFEE2E4F-EC94-7519-5C43-10DE213AA890}"/>
              </a:ext>
            </a:extLst>
          </p:cNvPr>
          <p:cNvSpPr txBox="1"/>
          <p:nvPr/>
        </p:nvSpPr>
        <p:spPr>
          <a:xfrm>
            <a:off x="6107741" y="6579486"/>
            <a:ext cx="4345928" cy="523220"/>
          </a:xfrm>
          <a:prstGeom prst="rect">
            <a:avLst/>
          </a:prstGeom>
          <a:noFill/>
        </p:spPr>
        <p:txBody>
          <a:bodyPr wrap="square" rtlCol="0">
            <a:spAutoFit/>
          </a:bodyPr>
          <a:lstStyle/>
          <a:p>
            <a:r>
              <a:rPr lang="en-US" sz="1400" dirty="0">
                <a:solidFill>
                  <a:srgbClr val="14262A"/>
                </a:solidFill>
                <a:latin typeface="Amasis MT Pro Light" panose="02040304050005020304" pitchFamily="18" charset="0"/>
              </a:rPr>
              <a:t>Drill-down analysis to understand churn by contract (month-to-month), internet service and payment method.</a:t>
            </a:r>
          </a:p>
        </p:txBody>
      </p:sp>
      <p:sp>
        <p:nvSpPr>
          <p:cNvPr id="56" name="TextBox 55">
            <a:extLst>
              <a:ext uri="{FF2B5EF4-FFF2-40B4-BE49-F238E27FC236}">
                <a16:creationId xmlns:a16="http://schemas.microsoft.com/office/drawing/2014/main" id="{3CB57F38-D4F2-4467-3B21-0780801D3CFA}"/>
              </a:ext>
            </a:extLst>
          </p:cNvPr>
          <p:cNvSpPr txBox="1"/>
          <p:nvPr/>
        </p:nvSpPr>
        <p:spPr>
          <a:xfrm>
            <a:off x="11239299" y="2924003"/>
            <a:ext cx="1162335" cy="954107"/>
          </a:xfrm>
          <a:prstGeom prst="rect">
            <a:avLst/>
          </a:prstGeom>
          <a:noFill/>
        </p:spPr>
        <p:txBody>
          <a:bodyPr wrap="square" rtlCol="0">
            <a:spAutoFit/>
          </a:bodyPr>
          <a:lstStyle/>
          <a:p>
            <a:r>
              <a:rPr lang="en-US" sz="5600" dirty="0">
                <a:solidFill>
                  <a:srgbClr val="5099AA"/>
                </a:solidFill>
                <a:latin typeface="Oranienbaum" panose="02000506080000020003" pitchFamily="2" charset="0"/>
              </a:rPr>
              <a:t>03.</a:t>
            </a:r>
          </a:p>
        </p:txBody>
      </p:sp>
      <p:sp>
        <p:nvSpPr>
          <p:cNvPr id="57" name="TextBox 56">
            <a:extLst>
              <a:ext uri="{FF2B5EF4-FFF2-40B4-BE49-F238E27FC236}">
                <a16:creationId xmlns:a16="http://schemas.microsoft.com/office/drawing/2014/main" id="{63B1CBE1-18C3-2216-9692-3CB5CE0F1966}"/>
              </a:ext>
            </a:extLst>
          </p:cNvPr>
          <p:cNvSpPr txBox="1"/>
          <p:nvPr/>
        </p:nvSpPr>
        <p:spPr>
          <a:xfrm>
            <a:off x="12239766" y="3204560"/>
            <a:ext cx="3345461" cy="430887"/>
          </a:xfrm>
          <a:prstGeom prst="rect">
            <a:avLst/>
          </a:prstGeom>
          <a:noFill/>
        </p:spPr>
        <p:txBody>
          <a:bodyPr wrap="square" rtlCol="0">
            <a:spAutoFit/>
          </a:bodyPr>
          <a:lstStyle/>
          <a:p>
            <a:r>
              <a:rPr lang="en-US" sz="2200" dirty="0">
                <a:solidFill>
                  <a:srgbClr val="14262A"/>
                </a:solidFill>
                <a:latin typeface="Oranienbaum" panose="02000506080000020003" pitchFamily="2" charset="0"/>
              </a:rPr>
              <a:t>Key Insights</a:t>
            </a:r>
          </a:p>
        </p:txBody>
      </p:sp>
      <p:sp>
        <p:nvSpPr>
          <p:cNvPr id="58" name="Rectangle 57">
            <a:extLst>
              <a:ext uri="{FF2B5EF4-FFF2-40B4-BE49-F238E27FC236}">
                <a16:creationId xmlns:a16="http://schemas.microsoft.com/office/drawing/2014/main" id="{D21131A6-CB6E-DCB4-3D2E-AD906865E2AD}"/>
              </a:ext>
            </a:extLst>
          </p:cNvPr>
          <p:cNvSpPr/>
          <p:nvPr/>
        </p:nvSpPr>
        <p:spPr>
          <a:xfrm flipV="1">
            <a:off x="12338896" y="3594529"/>
            <a:ext cx="1162335" cy="27432"/>
          </a:xfrm>
          <a:prstGeom prst="rect">
            <a:avLst/>
          </a:prstGeom>
          <a:solidFill>
            <a:srgbClr val="5099AA"/>
          </a:solidFill>
          <a:ln>
            <a:noFill/>
          </a:ln>
          <a:effectLst>
            <a:outerShdw blurRad="50800" dist="38100" dir="2700000" algn="tl" rotWithShape="0">
              <a:prstClr val="black">
                <a:alpha val="12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TextBox 58">
            <a:extLst>
              <a:ext uri="{FF2B5EF4-FFF2-40B4-BE49-F238E27FC236}">
                <a16:creationId xmlns:a16="http://schemas.microsoft.com/office/drawing/2014/main" id="{29CB765C-0628-8EF9-2261-CC0C73B33AE4}"/>
              </a:ext>
            </a:extLst>
          </p:cNvPr>
          <p:cNvSpPr txBox="1"/>
          <p:nvPr/>
        </p:nvSpPr>
        <p:spPr>
          <a:xfrm>
            <a:off x="11239298" y="4111994"/>
            <a:ext cx="4523865" cy="523220"/>
          </a:xfrm>
          <a:prstGeom prst="rect">
            <a:avLst/>
          </a:prstGeom>
          <a:noFill/>
        </p:spPr>
        <p:txBody>
          <a:bodyPr wrap="square" rtlCol="0">
            <a:spAutoFit/>
          </a:bodyPr>
          <a:lstStyle/>
          <a:p>
            <a:r>
              <a:rPr lang="en-US" sz="1400" dirty="0">
                <a:solidFill>
                  <a:srgbClr val="14262A"/>
                </a:solidFill>
                <a:latin typeface="Amasis MT Pro Light" panose="02040304050005020304" pitchFamily="18" charset="0"/>
              </a:rPr>
              <a:t>Extracted key practical business insights from the emerging patterns in the data.</a:t>
            </a:r>
          </a:p>
        </p:txBody>
      </p:sp>
      <p:sp>
        <p:nvSpPr>
          <p:cNvPr id="60" name="TextBox 59">
            <a:extLst>
              <a:ext uri="{FF2B5EF4-FFF2-40B4-BE49-F238E27FC236}">
                <a16:creationId xmlns:a16="http://schemas.microsoft.com/office/drawing/2014/main" id="{EEC8B9FB-71E8-30CB-B46F-09B660D07BA4}"/>
              </a:ext>
            </a:extLst>
          </p:cNvPr>
          <p:cNvSpPr txBox="1"/>
          <p:nvPr/>
        </p:nvSpPr>
        <p:spPr>
          <a:xfrm>
            <a:off x="11239299" y="4609592"/>
            <a:ext cx="4345928" cy="523220"/>
          </a:xfrm>
          <a:prstGeom prst="rect">
            <a:avLst/>
          </a:prstGeom>
          <a:noFill/>
        </p:spPr>
        <p:txBody>
          <a:bodyPr wrap="square" rtlCol="0">
            <a:spAutoFit/>
          </a:bodyPr>
          <a:lstStyle/>
          <a:p>
            <a:r>
              <a:rPr lang="en-US" sz="1400" dirty="0">
                <a:solidFill>
                  <a:srgbClr val="14262A"/>
                </a:solidFill>
                <a:latin typeface="Amasis MT Pro Light" panose="02040304050005020304" pitchFamily="18" charset="0"/>
              </a:rPr>
              <a:t>From those insights, I formulated actionable recommendations for the company.</a:t>
            </a:r>
          </a:p>
        </p:txBody>
      </p:sp>
    </p:spTree>
    <p:extLst>
      <p:ext uri="{BB962C8B-B14F-4D97-AF65-F5344CB8AC3E}">
        <p14:creationId xmlns:p14="http://schemas.microsoft.com/office/powerpoint/2010/main" val="14387521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FB25984-9AC4-8A99-7272-DCFB945BA2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56" y="0"/>
            <a:ext cx="16242888" cy="9144000"/>
          </a:xfrm>
          <a:prstGeom prst="rect">
            <a:avLst/>
          </a:prstGeom>
        </p:spPr>
      </p:pic>
      <p:sp>
        <p:nvSpPr>
          <p:cNvPr id="4" name="Rectangle 3">
            <a:extLst>
              <a:ext uri="{FF2B5EF4-FFF2-40B4-BE49-F238E27FC236}">
                <a16:creationId xmlns:a16="http://schemas.microsoft.com/office/drawing/2014/main" id="{BD6418C3-3E3D-F973-0F8E-BCF2BBB5AD8B}"/>
              </a:ext>
            </a:extLst>
          </p:cNvPr>
          <p:cNvSpPr/>
          <p:nvPr/>
        </p:nvSpPr>
        <p:spPr>
          <a:xfrm>
            <a:off x="0" y="0"/>
            <a:ext cx="16285464" cy="9144000"/>
          </a:xfrm>
          <a:prstGeom prst="rect">
            <a:avLst/>
          </a:prstGeom>
          <a:gradFill flip="none" rotWithShape="1">
            <a:gsLst>
              <a:gs pos="50000">
                <a:srgbClr val="14262A">
                  <a:alpha val="91000"/>
                </a:srgbClr>
              </a:gs>
              <a:gs pos="0">
                <a:srgbClr val="14262A">
                  <a:alpha val="90000"/>
                </a:srgbClr>
              </a:gs>
              <a:gs pos="100000">
                <a:srgbClr val="14262A">
                  <a:alpha val="94902"/>
                </a:srgb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7772BAB4-74F4-16E9-6752-3E8E51628603}"/>
              </a:ext>
            </a:extLst>
          </p:cNvPr>
          <p:cNvSpPr txBox="1"/>
          <p:nvPr/>
        </p:nvSpPr>
        <p:spPr>
          <a:xfrm>
            <a:off x="3336329" y="3132948"/>
            <a:ext cx="1358493" cy="1015663"/>
          </a:xfrm>
          <a:prstGeom prst="rect">
            <a:avLst/>
          </a:prstGeom>
          <a:noFill/>
        </p:spPr>
        <p:txBody>
          <a:bodyPr wrap="square" rtlCol="0">
            <a:spAutoFit/>
          </a:bodyPr>
          <a:lstStyle/>
          <a:p>
            <a:pPr algn="ctr"/>
            <a:r>
              <a:rPr lang="en-US" sz="6000" b="1" dirty="0">
                <a:solidFill>
                  <a:srgbClr val="5099AA"/>
                </a:solidFill>
                <a:latin typeface="Oranienbaum" panose="02000506080000020003" pitchFamily="2" charset="0"/>
              </a:rPr>
              <a:t>03.</a:t>
            </a:r>
          </a:p>
        </p:txBody>
      </p:sp>
      <p:sp>
        <p:nvSpPr>
          <p:cNvPr id="10" name="Rectangle 9">
            <a:extLst>
              <a:ext uri="{FF2B5EF4-FFF2-40B4-BE49-F238E27FC236}">
                <a16:creationId xmlns:a16="http://schemas.microsoft.com/office/drawing/2014/main" id="{1209BBD8-3BDC-4A36-C248-B7D83467B8FF}"/>
              </a:ext>
            </a:extLst>
          </p:cNvPr>
          <p:cNvSpPr/>
          <p:nvPr/>
        </p:nvSpPr>
        <p:spPr>
          <a:xfrm flipV="1">
            <a:off x="3679158" y="4124370"/>
            <a:ext cx="719848" cy="118872"/>
          </a:xfrm>
          <a:prstGeom prst="rect">
            <a:avLst/>
          </a:prstGeom>
          <a:solidFill>
            <a:srgbClr val="5099AA">
              <a:alpha val="3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650BF5B6-C788-121F-49FF-3EC510C9719E}"/>
              </a:ext>
            </a:extLst>
          </p:cNvPr>
          <p:cNvSpPr txBox="1"/>
          <p:nvPr/>
        </p:nvSpPr>
        <p:spPr>
          <a:xfrm>
            <a:off x="3801321" y="4345528"/>
            <a:ext cx="3007252" cy="707886"/>
          </a:xfrm>
          <a:prstGeom prst="rect">
            <a:avLst/>
          </a:prstGeom>
          <a:noFill/>
        </p:spPr>
        <p:txBody>
          <a:bodyPr wrap="square" rtlCol="0">
            <a:spAutoFit/>
          </a:bodyPr>
          <a:lstStyle/>
          <a:p>
            <a:pPr algn="ctr"/>
            <a:r>
              <a:rPr lang="en-US" sz="4000" dirty="0">
                <a:solidFill>
                  <a:schemeClr val="bg1"/>
                </a:solidFill>
                <a:latin typeface="Amasis MT Pro Light" panose="02040304050005020304" pitchFamily="18" charset="0"/>
              </a:rPr>
              <a:t>Key Findings</a:t>
            </a:r>
          </a:p>
        </p:txBody>
      </p:sp>
      <p:sp>
        <p:nvSpPr>
          <p:cNvPr id="6" name="TextBox 5">
            <a:extLst>
              <a:ext uri="{FF2B5EF4-FFF2-40B4-BE49-F238E27FC236}">
                <a16:creationId xmlns:a16="http://schemas.microsoft.com/office/drawing/2014/main" id="{3A355001-5CAC-94C0-4695-11FEDC2246D0}"/>
              </a:ext>
            </a:extLst>
          </p:cNvPr>
          <p:cNvSpPr txBox="1"/>
          <p:nvPr/>
        </p:nvSpPr>
        <p:spPr>
          <a:xfrm>
            <a:off x="3929078" y="5059842"/>
            <a:ext cx="5159632" cy="880369"/>
          </a:xfrm>
          <a:prstGeom prst="rect">
            <a:avLst/>
          </a:prstGeom>
          <a:noFill/>
        </p:spPr>
        <p:txBody>
          <a:bodyPr wrap="square" rtlCol="0">
            <a:spAutoFit/>
          </a:bodyPr>
          <a:lstStyle/>
          <a:p>
            <a:pPr algn="l">
              <a:lnSpc>
                <a:spcPct val="150000"/>
              </a:lnSpc>
            </a:pPr>
            <a:r>
              <a:rPr lang="en-US" dirty="0">
                <a:solidFill>
                  <a:schemeClr val="bg1"/>
                </a:solidFill>
                <a:latin typeface="Calibri Light" panose="020F0302020204030204" pitchFamily="34" charset="0"/>
                <a:ea typeface="Calibri Light" panose="020F0302020204030204" pitchFamily="34" charset="0"/>
                <a:cs typeface="Calibri Light" panose="020F0302020204030204" pitchFamily="34" charset="0"/>
              </a:rPr>
              <a:t>Data-driven findings from a comprehensive churn investigation.</a:t>
            </a:r>
          </a:p>
        </p:txBody>
      </p:sp>
      <p:sp>
        <p:nvSpPr>
          <p:cNvPr id="7" name="Rectangle 6">
            <a:extLst>
              <a:ext uri="{FF2B5EF4-FFF2-40B4-BE49-F238E27FC236}">
                <a16:creationId xmlns:a16="http://schemas.microsoft.com/office/drawing/2014/main" id="{9DF7F4C1-BC91-0623-E5D5-F1560E10DA07}"/>
              </a:ext>
            </a:extLst>
          </p:cNvPr>
          <p:cNvSpPr/>
          <p:nvPr/>
        </p:nvSpPr>
        <p:spPr>
          <a:xfrm rot="5400000" flipV="1">
            <a:off x="3444099" y="4591887"/>
            <a:ext cx="592277" cy="122167"/>
          </a:xfrm>
          <a:prstGeom prst="rect">
            <a:avLst/>
          </a:prstGeom>
          <a:solidFill>
            <a:srgbClr val="5099AA">
              <a:alpha val="3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95098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1EB"/>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F138FB7-9F29-B65E-2E10-1F58AB0A0DBE}"/>
              </a:ext>
            </a:extLst>
          </p:cNvPr>
          <p:cNvSpPr txBox="1"/>
          <p:nvPr/>
        </p:nvSpPr>
        <p:spPr>
          <a:xfrm>
            <a:off x="945569" y="546824"/>
            <a:ext cx="14352979" cy="538609"/>
          </a:xfrm>
          <a:prstGeom prst="rect">
            <a:avLst/>
          </a:prstGeom>
          <a:noFill/>
        </p:spPr>
        <p:txBody>
          <a:bodyPr wrap="square" rtlCol="0">
            <a:spAutoFit/>
          </a:bodyPr>
          <a:lstStyle/>
          <a:p>
            <a:r>
              <a:rPr lang="en-US" sz="2900" dirty="0">
                <a:solidFill>
                  <a:srgbClr val="14262A"/>
                </a:solidFill>
                <a:latin typeface="Amasis MT Pro Light" panose="02040304050005020304" pitchFamily="18" charset="0"/>
              </a:rPr>
              <a:t>A churn rate of </a:t>
            </a:r>
            <a:r>
              <a:rPr lang="en-US" sz="2900" b="1" dirty="0">
                <a:solidFill>
                  <a:srgbClr val="5099AA"/>
                </a:solidFill>
                <a:latin typeface="Amasis MT Pro Light" panose="02040304050005020304" pitchFamily="18" charset="0"/>
              </a:rPr>
              <a:t>26.5% </a:t>
            </a:r>
            <a:r>
              <a:rPr lang="en-US" sz="2900" dirty="0">
                <a:solidFill>
                  <a:srgbClr val="14262A"/>
                </a:solidFill>
                <a:latin typeface="Amasis MT Pro Light" panose="02040304050005020304" pitchFamily="18" charset="0"/>
              </a:rPr>
              <a:t>shows that roughly one out of four customers are leaving the company.</a:t>
            </a:r>
            <a:endParaRPr lang="en-US" sz="2900" b="1" dirty="0">
              <a:solidFill>
                <a:srgbClr val="14262A"/>
              </a:solidFill>
              <a:latin typeface="Amasis MT Pro Light" panose="02040304050005020304" pitchFamily="18" charset="0"/>
            </a:endParaRPr>
          </a:p>
        </p:txBody>
      </p:sp>
      <p:sp>
        <p:nvSpPr>
          <p:cNvPr id="5" name="Rectangle 4">
            <a:extLst>
              <a:ext uri="{FF2B5EF4-FFF2-40B4-BE49-F238E27FC236}">
                <a16:creationId xmlns:a16="http://schemas.microsoft.com/office/drawing/2014/main" id="{10092EF7-4697-3B8A-85FC-1DF51257E280}"/>
              </a:ext>
            </a:extLst>
          </p:cNvPr>
          <p:cNvSpPr/>
          <p:nvPr/>
        </p:nvSpPr>
        <p:spPr>
          <a:xfrm rot="5400000" flipV="1">
            <a:off x="668370" y="732585"/>
            <a:ext cx="462958" cy="91440"/>
          </a:xfrm>
          <a:prstGeom prst="rect">
            <a:avLst/>
          </a:prstGeom>
          <a:solidFill>
            <a:srgbClr val="5099AA"/>
          </a:solidFill>
          <a:ln>
            <a:noFill/>
          </a:ln>
          <a:effectLst>
            <a:outerShdw blurRad="508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21">
            <a:extLst>
              <a:ext uri="{FF2B5EF4-FFF2-40B4-BE49-F238E27FC236}">
                <a16:creationId xmlns:a16="http://schemas.microsoft.com/office/drawing/2014/main" id="{1BF82BFB-F714-6EEF-A81A-B24E55B739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4127" y="4953228"/>
            <a:ext cx="4265074" cy="3610004"/>
          </a:xfrm>
          <a:prstGeom prst="rect">
            <a:avLst/>
          </a:prstGeom>
          <a:effectLst>
            <a:outerShdw blurRad="50800" dist="38100" dir="2700000" algn="tl" rotWithShape="0">
              <a:prstClr val="black">
                <a:alpha val="20000"/>
              </a:prstClr>
            </a:outerShdw>
          </a:effectLst>
        </p:spPr>
      </p:pic>
      <p:sp>
        <p:nvSpPr>
          <p:cNvPr id="25" name="Rectangle 24">
            <a:extLst>
              <a:ext uri="{FF2B5EF4-FFF2-40B4-BE49-F238E27FC236}">
                <a16:creationId xmlns:a16="http://schemas.microsoft.com/office/drawing/2014/main" id="{A3B5AEE8-1635-3698-3ECD-7794187A980D}"/>
              </a:ext>
            </a:extLst>
          </p:cNvPr>
          <p:cNvSpPr/>
          <p:nvPr/>
        </p:nvSpPr>
        <p:spPr>
          <a:xfrm rot="5400000" flipV="1">
            <a:off x="8678588" y="-1908922"/>
            <a:ext cx="3303028" cy="10094116"/>
          </a:xfrm>
          <a:prstGeom prst="rect">
            <a:avLst/>
          </a:prstGeom>
          <a:solidFill>
            <a:srgbClr val="EDE8E0"/>
          </a:solidFill>
          <a:ln>
            <a:noFill/>
          </a:ln>
          <a:effectLst>
            <a:outerShdw blurRad="508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5CC068C6-F41F-5416-31CB-495477BE9CB5}"/>
              </a:ext>
            </a:extLst>
          </p:cNvPr>
          <p:cNvSpPr txBox="1"/>
          <p:nvPr/>
        </p:nvSpPr>
        <p:spPr>
          <a:xfrm>
            <a:off x="7074681" y="1812428"/>
            <a:ext cx="7601820" cy="307777"/>
          </a:xfrm>
          <a:prstGeom prst="rect">
            <a:avLst/>
          </a:prstGeom>
          <a:noFill/>
        </p:spPr>
        <p:txBody>
          <a:bodyPr wrap="square" rtlCol="0">
            <a:spAutoFit/>
          </a:bodyPr>
          <a:lstStyle/>
          <a:p>
            <a:r>
              <a:rPr lang="en-US" sz="1400" b="1" dirty="0">
                <a:solidFill>
                  <a:srgbClr val="14262A"/>
                </a:solidFill>
                <a:latin typeface="Amasis MT Pro Light" panose="02040304050005020304" pitchFamily="18" charset="0"/>
              </a:rPr>
              <a:t>Churn distribution </a:t>
            </a:r>
            <a:r>
              <a:rPr lang="en-US" sz="1400" dirty="0">
                <a:solidFill>
                  <a:srgbClr val="14262A"/>
                </a:solidFill>
                <a:latin typeface="Amasis MT Pro Light" panose="02040304050005020304" pitchFamily="18" charset="0"/>
              </a:rPr>
              <a:t>shows that roughly one out of four customers are leaving the company.</a:t>
            </a:r>
            <a:endParaRPr lang="en-US" sz="1400" b="1" dirty="0">
              <a:solidFill>
                <a:srgbClr val="14262A"/>
              </a:solidFill>
              <a:latin typeface="Amasis MT Pro Light" panose="02040304050005020304" pitchFamily="18" charset="0"/>
            </a:endParaRPr>
          </a:p>
        </p:txBody>
      </p:sp>
      <p:sp>
        <p:nvSpPr>
          <p:cNvPr id="27" name="TextBox 26">
            <a:extLst>
              <a:ext uri="{FF2B5EF4-FFF2-40B4-BE49-F238E27FC236}">
                <a16:creationId xmlns:a16="http://schemas.microsoft.com/office/drawing/2014/main" id="{05B11E87-5C47-8B8A-D57B-0D4D68A3AE76}"/>
              </a:ext>
            </a:extLst>
          </p:cNvPr>
          <p:cNvSpPr txBox="1"/>
          <p:nvPr/>
        </p:nvSpPr>
        <p:spPr>
          <a:xfrm>
            <a:off x="7074681" y="2446010"/>
            <a:ext cx="7601820" cy="523220"/>
          </a:xfrm>
          <a:prstGeom prst="rect">
            <a:avLst/>
          </a:prstGeom>
          <a:noFill/>
        </p:spPr>
        <p:txBody>
          <a:bodyPr wrap="square" rtlCol="0">
            <a:spAutoFit/>
          </a:bodyPr>
          <a:lstStyle/>
          <a:p>
            <a:r>
              <a:rPr lang="en-US" sz="1400" b="1" dirty="0">
                <a:solidFill>
                  <a:srgbClr val="14262A"/>
                </a:solidFill>
                <a:latin typeface="Amasis MT Pro Light" panose="02040304050005020304" pitchFamily="18" charset="0"/>
              </a:rPr>
              <a:t>Customers with shorter tenures (median of 10 months) </a:t>
            </a:r>
            <a:r>
              <a:rPr lang="en-US" sz="1400" dirty="0">
                <a:solidFill>
                  <a:srgbClr val="14262A"/>
                </a:solidFill>
                <a:latin typeface="Amasis MT Pro Light" panose="02040304050005020304" pitchFamily="18" charset="0"/>
              </a:rPr>
              <a:t>are at higher risk of churning although a few long-tenure customers also churn as shown by the outliers.</a:t>
            </a:r>
            <a:endParaRPr lang="en-US" sz="1400" b="1" dirty="0">
              <a:solidFill>
                <a:srgbClr val="14262A"/>
              </a:solidFill>
              <a:latin typeface="Amasis MT Pro Light" panose="02040304050005020304" pitchFamily="18" charset="0"/>
            </a:endParaRPr>
          </a:p>
        </p:txBody>
      </p:sp>
      <p:sp>
        <p:nvSpPr>
          <p:cNvPr id="28" name="TextBox 27">
            <a:extLst>
              <a:ext uri="{FF2B5EF4-FFF2-40B4-BE49-F238E27FC236}">
                <a16:creationId xmlns:a16="http://schemas.microsoft.com/office/drawing/2014/main" id="{A551059F-A1B6-13F7-F64B-21820C3ABD90}"/>
              </a:ext>
            </a:extLst>
          </p:cNvPr>
          <p:cNvSpPr txBox="1"/>
          <p:nvPr/>
        </p:nvSpPr>
        <p:spPr>
          <a:xfrm>
            <a:off x="7074680" y="3148479"/>
            <a:ext cx="7939165" cy="984885"/>
          </a:xfrm>
          <a:prstGeom prst="rect">
            <a:avLst/>
          </a:prstGeom>
          <a:noFill/>
        </p:spPr>
        <p:txBody>
          <a:bodyPr wrap="square" rtlCol="0">
            <a:spAutoFit/>
          </a:bodyPr>
          <a:lstStyle/>
          <a:p>
            <a:r>
              <a:rPr lang="en-US" sz="1400" b="1" dirty="0">
                <a:solidFill>
                  <a:srgbClr val="14262A"/>
                </a:solidFill>
                <a:latin typeface="Amasis MT Pro Light" panose="02040304050005020304" pitchFamily="18" charset="0"/>
              </a:rPr>
              <a:t>Month-to-Month Contract </a:t>
            </a:r>
            <a:r>
              <a:rPr lang="en-US" sz="1400" dirty="0">
                <a:solidFill>
                  <a:srgbClr val="14262A"/>
                </a:solidFill>
                <a:latin typeface="Amasis MT Pro Light" panose="02040304050005020304" pitchFamily="18" charset="0"/>
              </a:rPr>
              <a:t>customers exhibit the highest churn rate, while those on one-year and especially two-year contracts have much lower churn rates. This suggests that longer contract commitments are associated with stronger customer retention.</a:t>
            </a:r>
          </a:p>
          <a:p>
            <a:endParaRPr lang="en-US" sz="1600" b="1" dirty="0">
              <a:solidFill>
                <a:srgbClr val="14262A"/>
              </a:solidFill>
              <a:latin typeface="Amasis MT Pro Light" panose="02040304050005020304" pitchFamily="18" charset="0"/>
            </a:endParaRPr>
          </a:p>
        </p:txBody>
      </p:sp>
      <p:sp>
        <p:nvSpPr>
          <p:cNvPr id="29" name="TextBox 28">
            <a:extLst>
              <a:ext uri="{FF2B5EF4-FFF2-40B4-BE49-F238E27FC236}">
                <a16:creationId xmlns:a16="http://schemas.microsoft.com/office/drawing/2014/main" id="{4E22D7C9-4496-587E-84AC-511138331B5A}"/>
              </a:ext>
            </a:extLst>
          </p:cNvPr>
          <p:cNvSpPr txBox="1"/>
          <p:nvPr/>
        </p:nvSpPr>
        <p:spPr>
          <a:xfrm>
            <a:off x="7074681" y="4050898"/>
            <a:ext cx="7939165" cy="523220"/>
          </a:xfrm>
          <a:prstGeom prst="rect">
            <a:avLst/>
          </a:prstGeom>
          <a:noFill/>
        </p:spPr>
        <p:txBody>
          <a:bodyPr wrap="square" rtlCol="0">
            <a:spAutoFit/>
          </a:bodyPr>
          <a:lstStyle/>
          <a:p>
            <a:r>
              <a:rPr lang="en-US" sz="1400" b="1" dirty="0">
                <a:solidFill>
                  <a:srgbClr val="14262A"/>
                </a:solidFill>
                <a:latin typeface="Amasis MT Pro Light" panose="02040304050005020304" pitchFamily="18" charset="0"/>
              </a:rPr>
              <a:t>Fiber Optic internet customers </a:t>
            </a:r>
            <a:r>
              <a:rPr lang="en-US" sz="1400" dirty="0">
                <a:solidFill>
                  <a:srgbClr val="14262A"/>
                </a:solidFill>
                <a:latin typeface="Amasis MT Pro Light" panose="02040304050005020304" pitchFamily="18" charset="0"/>
              </a:rPr>
              <a:t>exhibit a noticeably higher churn rate (more than double the rate of DSL customers) than those using DSL or those without internet service.</a:t>
            </a:r>
          </a:p>
        </p:txBody>
      </p:sp>
      <p:pic>
        <p:nvPicPr>
          <p:cNvPr id="33" name="Picture 32">
            <a:extLst>
              <a:ext uri="{FF2B5EF4-FFF2-40B4-BE49-F238E27FC236}">
                <a16:creationId xmlns:a16="http://schemas.microsoft.com/office/drawing/2014/main" id="{4C2877A4-4231-5C03-FF25-BAEB61B024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83044" y="4953226"/>
            <a:ext cx="4899477" cy="3610004"/>
          </a:xfrm>
          <a:prstGeom prst="rect">
            <a:avLst/>
          </a:prstGeom>
          <a:effectLst>
            <a:outerShdw blurRad="50800" dist="38100" dir="2700000" algn="tl" rotWithShape="0">
              <a:prstClr val="black">
                <a:alpha val="20000"/>
              </a:prstClr>
            </a:outerShdw>
          </a:effectLst>
        </p:spPr>
      </p:pic>
      <p:pic>
        <p:nvPicPr>
          <p:cNvPr id="37" name="Picture 36">
            <a:extLst>
              <a:ext uri="{FF2B5EF4-FFF2-40B4-BE49-F238E27FC236}">
                <a16:creationId xmlns:a16="http://schemas.microsoft.com/office/drawing/2014/main" id="{B41E5998-E235-6F8E-DC8D-8E408D881B9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346364" y="4968899"/>
            <a:ext cx="5030795" cy="3594331"/>
          </a:xfrm>
          <a:prstGeom prst="rect">
            <a:avLst/>
          </a:prstGeom>
          <a:effectLst>
            <a:outerShdw blurRad="50800" dist="38100" dir="2700000" algn="tl" rotWithShape="0">
              <a:prstClr val="black">
                <a:alpha val="20000"/>
              </a:prstClr>
            </a:outerShdw>
          </a:effectLst>
        </p:spPr>
      </p:pic>
      <p:sp>
        <p:nvSpPr>
          <p:cNvPr id="38" name="TextBox 37">
            <a:extLst>
              <a:ext uri="{FF2B5EF4-FFF2-40B4-BE49-F238E27FC236}">
                <a16:creationId xmlns:a16="http://schemas.microsoft.com/office/drawing/2014/main" id="{9B8B9CA0-8983-FC05-CDB7-B8EE822542E8}"/>
              </a:ext>
            </a:extLst>
          </p:cNvPr>
          <p:cNvSpPr txBox="1"/>
          <p:nvPr/>
        </p:nvSpPr>
        <p:spPr>
          <a:xfrm>
            <a:off x="5689390" y="1688642"/>
            <a:ext cx="1021975" cy="506352"/>
          </a:xfrm>
          <a:prstGeom prst="rect">
            <a:avLst/>
          </a:prstGeom>
          <a:noFill/>
        </p:spPr>
        <p:txBody>
          <a:bodyPr wrap="square" rtlCol="0">
            <a:spAutoFit/>
          </a:bodyPr>
          <a:lstStyle/>
          <a:p>
            <a:r>
              <a:rPr lang="en-US" sz="2700" dirty="0">
                <a:solidFill>
                  <a:srgbClr val="5099AA"/>
                </a:solidFill>
                <a:latin typeface="Oranienbaum" panose="02000506080000020003" pitchFamily="2" charset="0"/>
              </a:rPr>
              <a:t>26.5%</a:t>
            </a:r>
          </a:p>
        </p:txBody>
      </p:sp>
      <p:sp>
        <p:nvSpPr>
          <p:cNvPr id="39" name="TextBox 38">
            <a:extLst>
              <a:ext uri="{FF2B5EF4-FFF2-40B4-BE49-F238E27FC236}">
                <a16:creationId xmlns:a16="http://schemas.microsoft.com/office/drawing/2014/main" id="{DC40FA1B-8165-7757-0E28-6C12EC0258FD}"/>
              </a:ext>
            </a:extLst>
          </p:cNvPr>
          <p:cNvSpPr txBox="1"/>
          <p:nvPr/>
        </p:nvSpPr>
        <p:spPr>
          <a:xfrm>
            <a:off x="5560655" y="2443699"/>
            <a:ext cx="1187123" cy="507831"/>
          </a:xfrm>
          <a:prstGeom prst="rect">
            <a:avLst/>
          </a:prstGeom>
          <a:noFill/>
        </p:spPr>
        <p:txBody>
          <a:bodyPr wrap="square" rtlCol="0">
            <a:spAutoFit/>
          </a:bodyPr>
          <a:lstStyle/>
          <a:p>
            <a:pPr algn="ctr"/>
            <a:r>
              <a:rPr lang="en-US" sz="2700" dirty="0">
                <a:solidFill>
                  <a:srgbClr val="5099AA"/>
                </a:solidFill>
                <a:latin typeface="Oranienbaum" panose="02000506080000020003" pitchFamily="2" charset="0"/>
              </a:rPr>
              <a:t>10</a:t>
            </a:r>
          </a:p>
        </p:txBody>
      </p:sp>
      <p:sp>
        <p:nvSpPr>
          <p:cNvPr id="40" name="TextBox 39">
            <a:extLst>
              <a:ext uri="{FF2B5EF4-FFF2-40B4-BE49-F238E27FC236}">
                <a16:creationId xmlns:a16="http://schemas.microsoft.com/office/drawing/2014/main" id="{3F673AE6-2803-7231-865A-FCED8C9BC73C}"/>
              </a:ext>
            </a:extLst>
          </p:cNvPr>
          <p:cNvSpPr txBox="1"/>
          <p:nvPr/>
        </p:nvSpPr>
        <p:spPr>
          <a:xfrm>
            <a:off x="5689390" y="3231650"/>
            <a:ext cx="1221447" cy="507831"/>
          </a:xfrm>
          <a:prstGeom prst="rect">
            <a:avLst/>
          </a:prstGeom>
          <a:noFill/>
        </p:spPr>
        <p:txBody>
          <a:bodyPr wrap="square" rtlCol="0">
            <a:spAutoFit/>
          </a:bodyPr>
          <a:lstStyle/>
          <a:p>
            <a:r>
              <a:rPr lang="en-US" sz="2700" dirty="0">
                <a:solidFill>
                  <a:srgbClr val="5099AA"/>
                </a:solidFill>
                <a:latin typeface="Oranienbaum" panose="02000506080000020003" pitchFamily="2" charset="0"/>
              </a:rPr>
              <a:t>42.7%</a:t>
            </a:r>
          </a:p>
        </p:txBody>
      </p:sp>
      <p:sp>
        <p:nvSpPr>
          <p:cNvPr id="41" name="TextBox 40">
            <a:extLst>
              <a:ext uri="{FF2B5EF4-FFF2-40B4-BE49-F238E27FC236}">
                <a16:creationId xmlns:a16="http://schemas.microsoft.com/office/drawing/2014/main" id="{71C23B58-6AE8-E6E3-BB91-3598A00E7DFA}"/>
              </a:ext>
            </a:extLst>
          </p:cNvPr>
          <p:cNvSpPr txBox="1"/>
          <p:nvPr/>
        </p:nvSpPr>
        <p:spPr>
          <a:xfrm>
            <a:off x="5725803" y="3980323"/>
            <a:ext cx="1021975" cy="507831"/>
          </a:xfrm>
          <a:prstGeom prst="rect">
            <a:avLst/>
          </a:prstGeom>
          <a:noFill/>
        </p:spPr>
        <p:txBody>
          <a:bodyPr wrap="square" rtlCol="0">
            <a:spAutoFit/>
          </a:bodyPr>
          <a:lstStyle/>
          <a:p>
            <a:r>
              <a:rPr lang="en-US" sz="2700" dirty="0">
                <a:solidFill>
                  <a:srgbClr val="5099AA"/>
                </a:solidFill>
                <a:latin typeface="Oranienbaum" panose="02000506080000020003" pitchFamily="2" charset="0"/>
              </a:rPr>
              <a:t>41.9%</a:t>
            </a:r>
          </a:p>
        </p:txBody>
      </p:sp>
      <p:sp>
        <p:nvSpPr>
          <p:cNvPr id="42" name="TextBox 41">
            <a:extLst>
              <a:ext uri="{FF2B5EF4-FFF2-40B4-BE49-F238E27FC236}">
                <a16:creationId xmlns:a16="http://schemas.microsoft.com/office/drawing/2014/main" id="{163BE696-01D6-5009-E51D-BE4F485BA8A4}"/>
              </a:ext>
            </a:extLst>
          </p:cNvPr>
          <p:cNvSpPr txBox="1"/>
          <p:nvPr/>
        </p:nvSpPr>
        <p:spPr>
          <a:xfrm>
            <a:off x="5742732" y="2073444"/>
            <a:ext cx="1021975" cy="246221"/>
          </a:xfrm>
          <a:prstGeom prst="rect">
            <a:avLst/>
          </a:prstGeom>
          <a:noFill/>
        </p:spPr>
        <p:txBody>
          <a:bodyPr wrap="square" rtlCol="0">
            <a:spAutoFit/>
          </a:bodyPr>
          <a:lstStyle/>
          <a:p>
            <a:r>
              <a:rPr lang="en-US" sz="1000" dirty="0">
                <a:solidFill>
                  <a:srgbClr val="5A6B7C"/>
                </a:solidFill>
                <a:latin typeface="Amasis MT Pro Light" panose="02040304050005020304" pitchFamily="18" charset="0"/>
              </a:rPr>
              <a:t>(Churn Rate)</a:t>
            </a:r>
          </a:p>
        </p:txBody>
      </p:sp>
      <p:sp>
        <p:nvSpPr>
          <p:cNvPr id="43" name="TextBox 42">
            <a:extLst>
              <a:ext uri="{FF2B5EF4-FFF2-40B4-BE49-F238E27FC236}">
                <a16:creationId xmlns:a16="http://schemas.microsoft.com/office/drawing/2014/main" id="{56449C7A-45ED-A764-4EC0-CBDDC22A4732}"/>
              </a:ext>
            </a:extLst>
          </p:cNvPr>
          <p:cNvSpPr txBox="1"/>
          <p:nvPr/>
        </p:nvSpPr>
        <p:spPr>
          <a:xfrm>
            <a:off x="5680368" y="2820275"/>
            <a:ext cx="2435275" cy="246221"/>
          </a:xfrm>
          <a:prstGeom prst="rect">
            <a:avLst/>
          </a:prstGeom>
          <a:noFill/>
        </p:spPr>
        <p:txBody>
          <a:bodyPr wrap="square" rtlCol="0">
            <a:spAutoFit/>
          </a:bodyPr>
          <a:lstStyle/>
          <a:p>
            <a:r>
              <a:rPr lang="en-US" sz="1000" dirty="0">
                <a:solidFill>
                  <a:srgbClr val="5A6B7C"/>
                </a:solidFill>
                <a:latin typeface="Amasis MT Pro Light" panose="02040304050005020304" pitchFamily="18" charset="0"/>
              </a:rPr>
              <a:t>(Median Tenure)</a:t>
            </a:r>
          </a:p>
        </p:txBody>
      </p:sp>
      <p:sp>
        <p:nvSpPr>
          <p:cNvPr id="44" name="TextBox 43">
            <a:extLst>
              <a:ext uri="{FF2B5EF4-FFF2-40B4-BE49-F238E27FC236}">
                <a16:creationId xmlns:a16="http://schemas.microsoft.com/office/drawing/2014/main" id="{C819BB09-5048-5A6C-18FC-B1B4FDB8B8C9}"/>
              </a:ext>
            </a:extLst>
          </p:cNvPr>
          <p:cNvSpPr txBox="1"/>
          <p:nvPr/>
        </p:nvSpPr>
        <p:spPr>
          <a:xfrm>
            <a:off x="5742731" y="3582884"/>
            <a:ext cx="1221447" cy="246221"/>
          </a:xfrm>
          <a:prstGeom prst="rect">
            <a:avLst/>
          </a:prstGeom>
          <a:noFill/>
        </p:spPr>
        <p:txBody>
          <a:bodyPr wrap="square" rtlCol="0">
            <a:spAutoFit/>
          </a:bodyPr>
          <a:lstStyle/>
          <a:p>
            <a:r>
              <a:rPr lang="en-US" sz="1000" dirty="0">
                <a:solidFill>
                  <a:srgbClr val="5A6B7C"/>
                </a:solidFill>
                <a:latin typeface="Amasis MT Pro Light" panose="02040304050005020304" pitchFamily="18" charset="0"/>
              </a:rPr>
              <a:t>(Churn Rate)</a:t>
            </a:r>
          </a:p>
        </p:txBody>
      </p:sp>
      <p:sp>
        <p:nvSpPr>
          <p:cNvPr id="45" name="TextBox 44">
            <a:extLst>
              <a:ext uri="{FF2B5EF4-FFF2-40B4-BE49-F238E27FC236}">
                <a16:creationId xmlns:a16="http://schemas.microsoft.com/office/drawing/2014/main" id="{CB850F43-920D-CDB0-4E76-6A79803715B6}"/>
              </a:ext>
            </a:extLst>
          </p:cNvPr>
          <p:cNvSpPr txBox="1"/>
          <p:nvPr/>
        </p:nvSpPr>
        <p:spPr>
          <a:xfrm>
            <a:off x="5742731" y="4334588"/>
            <a:ext cx="1221447" cy="246221"/>
          </a:xfrm>
          <a:prstGeom prst="rect">
            <a:avLst/>
          </a:prstGeom>
          <a:noFill/>
        </p:spPr>
        <p:txBody>
          <a:bodyPr wrap="square" rtlCol="0">
            <a:spAutoFit/>
          </a:bodyPr>
          <a:lstStyle/>
          <a:p>
            <a:r>
              <a:rPr lang="en-US" sz="1000" dirty="0">
                <a:solidFill>
                  <a:srgbClr val="5A6B7C"/>
                </a:solidFill>
                <a:latin typeface="Amasis MT Pro Light" panose="02040304050005020304" pitchFamily="18" charset="0"/>
              </a:rPr>
              <a:t>(Churn Rate)</a:t>
            </a:r>
          </a:p>
        </p:txBody>
      </p:sp>
      <p:pic>
        <p:nvPicPr>
          <p:cNvPr id="47" name="Picture 46">
            <a:extLst>
              <a:ext uri="{FF2B5EF4-FFF2-40B4-BE49-F238E27FC236}">
                <a16:creationId xmlns:a16="http://schemas.microsoft.com/office/drawing/2014/main" id="{4BF44D05-0C3A-1790-B56D-E4A77E632DD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54126" y="1486622"/>
            <a:ext cx="4256052" cy="3344798"/>
          </a:xfrm>
          <a:prstGeom prst="rect">
            <a:avLst/>
          </a:prstGeom>
          <a:effectLst>
            <a:outerShdw blurRad="50800" dist="38100" dir="2700000" algn="tl" rotWithShape="0">
              <a:prstClr val="black">
                <a:alpha val="20000"/>
              </a:prstClr>
            </a:outerShdw>
          </a:effectLst>
        </p:spPr>
      </p:pic>
    </p:spTree>
    <p:extLst>
      <p:ext uri="{BB962C8B-B14F-4D97-AF65-F5344CB8AC3E}">
        <p14:creationId xmlns:p14="http://schemas.microsoft.com/office/powerpoint/2010/main" val="19739114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1EB"/>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F138FB7-9F29-B65E-2E10-1F58AB0A0DBE}"/>
              </a:ext>
            </a:extLst>
          </p:cNvPr>
          <p:cNvSpPr txBox="1"/>
          <p:nvPr/>
        </p:nvSpPr>
        <p:spPr>
          <a:xfrm>
            <a:off x="957926" y="506309"/>
            <a:ext cx="14431588" cy="538609"/>
          </a:xfrm>
          <a:prstGeom prst="rect">
            <a:avLst/>
          </a:prstGeom>
          <a:noFill/>
        </p:spPr>
        <p:txBody>
          <a:bodyPr wrap="square" rtlCol="0">
            <a:spAutoFit/>
          </a:bodyPr>
          <a:lstStyle/>
          <a:p>
            <a:r>
              <a:rPr lang="en-US" sz="2900" dirty="0">
                <a:solidFill>
                  <a:srgbClr val="14262A"/>
                </a:solidFill>
                <a:latin typeface="Amasis MT Pro Light" panose="02040304050005020304" pitchFamily="18" charset="0"/>
              </a:rPr>
              <a:t>Electronic Check Payment Method and Customers without Tech Support Amplify Churn Risk</a:t>
            </a:r>
          </a:p>
        </p:txBody>
      </p:sp>
      <p:sp>
        <p:nvSpPr>
          <p:cNvPr id="5" name="Rectangle 4">
            <a:extLst>
              <a:ext uri="{FF2B5EF4-FFF2-40B4-BE49-F238E27FC236}">
                <a16:creationId xmlns:a16="http://schemas.microsoft.com/office/drawing/2014/main" id="{10092EF7-4697-3B8A-85FC-1DF51257E280}"/>
              </a:ext>
            </a:extLst>
          </p:cNvPr>
          <p:cNvSpPr/>
          <p:nvPr/>
        </p:nvSpPr>
        <p:spPr>
          <a:xfrm rot="5400000" flipV="1">
            <a:off x="665985" y="693130"/>
            <a:ext cx="492441" cy="91439"/>
          </a:xfrm>
          <a:prstGeom prst="rect">
            <a:avLst/>
          </a:prstGeom>
          <a:solidFill>
            <a:srgbClr val="5099AA"/>
          </a:solidFill>
          <a:ln>
            <a:noFill/>
          </a:ln>
          <a:effectLst>
            <a:outerShdw blurRad="508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94D789B6-A141-D080-BE52-E606D5C0F9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14506" y="1741743"/>
            <a:ext cx="5275008" cy="4372135"/>
          </a:xfrm>
          <a:prstGeom prst="rect">
            <a:avLst/>
          </a:prstGeom>
          <a:effectLst>
            <a:outerShdw blurRad="50800" dist="38100" dir="2700000" algn="tl" rotWithShape="0">
              <a:prstClr val="black">
                <a:alpha val="20000"/>
              </a:prstClr>
            </a:outerShdw>
          </a:effectLst>
        </p:spPr>
      </p:pic>
      <p:sp>
        <p:nvSpPr>
          <p:cNvPr id="8" name="Rectangle 7">
            <a:extLst>
              <a:ext uri="{FF2B5EF4-FFF2-40B4-BE49-F238E27FC236}">
                <a16:creationId xmlns:a16="http://schemas.microsoft.com/office/drawing/2014/main" id="{B88F9AA9-357C-ED8C-9344-03B95F71E921}"/>
              </a:ext>
            </a:extLst>
          </p:cNvPr>
          <p:cNvSpPr/>
          <p:nvPr/>
        </p:nvSpPr>
        <p:spPr>
          <a:xfrm rot="5400000" flipV="1">
            <a:off x="3307004" y="3921592"/>
            <a:ext cx="2251882" cy="7132320"/>
          </a:xfrm>
          <a:prstGeom prst="rect">
            <a:avLst/>
          </a:prstGeom>
          <a:solidFill>
            <a:srgbClr val="EDE8E0"/>
          </a:solidFill>
          <a:ln>
            <a:noFill/>
          </a:ln>
          <a:effectLst>
            <a:outerShdw blurRad="508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FF566519-C40D-110C-46CB-F8527E2FC6AF}"/>
              </a:ext>
            </a:extLst>
          </p:cNvPr>
          <p:cNvSpPr/>
          <p:nvPr/>
        </p:nvSpPr>
        <p:spPr>
          <a:xfrm rot="5400000" flipV="1">
            <a:off x="10697265" y="3921443"/>
            <a:ext cx="2251882" cy="7132618"/>
          </a:xfrm>
          <a:prstGeom prst="rect">
            <a:avLst/>
          </a:prstGeom>
          <a:solidFill>
            <a:srgbClr val="EDE8E0"/>
          </a:solidFill>
          <a:ln>
            <a:noFill/>
          </a:ln>
          <a:effectLst>
            <a:outerShdw blurRad="508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4FA1E941-066E-90A9-E4F4-636765CD76EB}"/>
              </a:ext>
            </a:extLst>
          </p:cNvPr>
          <p:cNvSpPr txBox="1"/>
          <p:nvPr/>
        </p:nvSpPr>
        <p:spPr>
          <a:xfrm>
            <a:off x="1223196" y="6661441"/>
            <a:ext cx="2658685" cy="1323439"/>
          </a:xfrm>
          <a:prstGeom prst="rect">
            <a:avLst/>
          </a:prstGeom>
          <a:noFill/>
        </p:spPr>
        <p:txBody>
          <a:bodyPr wrap="square" rtlCol="0">
            <a:spAutoFit/>
          </a:bodyPr>
          <a:lstStyle/>
          <a:p>
            <a:pPr algn="ctr"/>
            <a:r>
              <a:rPr lang="en-US" sz="8000" dirty="0">
                <a:solidFill>
                  <a:srgbClr val="5099AA"/>
                </a:solidFill>
                <a:latin typeface="Oranienbaum" panose="02000506080000020003" pitchFamily="2" charset="0"/>
              </a:rPr>
              <a:t>45.3%</a:t>
            </a:r>
          </a:p>
        </p:txBody>
      </p:sp>
      <p:sp>
        <p:nvSpPr>
          <p:cNvPr id="14" name="TextBox 13">
            <a:extLst>
              <a:ext uri="{FF2B5EF4-FFF2-40B4-BE49-F238E27FC236}">
                <a16:creationId xmlns:a16="http://schemas.microsoft.com/office/drawing/2014/main" id="{0C8467E0-D37C-A68C-1B72-FEC9767EC74C}"/>
              </a:ext>
            </a:extLst>
          </p:cNvPr>
          <p:cNvSpPr txBox="1"/>
          <p:nvPr/>
        </p:nvSpPr>
        <p:spPr>
          <a:xfrm>
            <a:off x="8795660" y="6661441"/>
            <a:ext cx="2361705" cy="1323439"/>
          </a:xfrm>
          <a:prstGeom prst="rect">
            <a:avLst/>
          </a:prstGeom>
          <a:noFill/>
        </p:spPr>
        <p:txBody>
          <a:bodyPr wrap="square" rtlCol="0">
            <a:spAutoFit/>
          </a:bodyPr>
          <a:lstStyle/>
          <a:p>
            <a:pPr algn="ctr"/>
            <a:r>
              <a:rPr lang="en-US" sz="8000" dirty="0">
                <a:solidFill>
                  <a:srgbClr val="5099AA"/>
                </a:solidFill>
                <a:latin typeface="Oranienbaum" panose="02000506080000020003" pitchFamily="2" charset="0"/>
              </a:rPr>
              <a:t>1,446</a:t>
            </a:r>
          </a:p>
        </p:txBody>
      </p:sp>
      <p:sp>
        <p:nvSpPr>
          <p:cNvPr id="16" name="TextBox 15">
            <a:extLst>
              <a:ext uri="{FF2B5EF4-FFF2-40B4-BE49-F238E27FC236}">
                <a16:creationId xmlns:a16="http://schemas.microsoft.com/office/drawing/2014/main" id="{4B9F9A2E-BD30-B224-436E-F7A551CE78F1}"/>
              </a:ext>
            </a:extLst>
          </p:cNvPr>
          <p:cNvSpPr txBox="1"/>
          <p:nvPr/>
        </p:nvSpPr>
        <p:spPr>
          <a:xfrm>
            <a:off x="4361923" y="6550900"/>
            <a:ext cx="3517504" cy="2031325"/>
          </a:xfrm>
          <a:prstGeom prst="rect">
            <a:avLst/>
          </a:prstGeom>
          <a:noFill/>
        </p:spPr>
        <p:txBody>
          <a:bodyPr wrap="square" rtlCol="0">
            <a:spAutoFit/>
          </a:bodyPr>
          <a:lstStyle/>
          <a:p>
            <a:r>
              <a:rPr lang="en-US" sz="1400" dirty="0">
                <a:solidFill>
                  <a:srgbClr val="14262A"/>
                </a:solidFill>
                <a:latin typeface="Amasis MT Pro Light" panose="02040304050005020304" pitchFamily="18" charset="0"/>
              </a:rPr>
              <a:t>In contrast, customers using Bank transfer and Credit card experience the lowest churn rates, while Mailed check customers show a moderate level of churn. These findings suggest that payment method is associated with customer retention, and promoting automatic or more convenient payment options may help reduce churn</a:t>
            </a:r>
          </a:p>
          <a:p>
            <a:endParaRPr lang="en-US" sz="1400" dirty="0">
              <a:solidFill>
                <a:srgbClr val="14262A"/>
              </a:solidFill>
              <a:latin typeface="Amasis MT Pro Light" panose="02040304050005020304" pitchFamily="18" charset="0"/>
            </a:endParaRPr>
          </a:p>
        </p:txBody>
      </p:sp>
      <p:sp>
        <p:nvSpPr>
          <p:cNvPr id="17" name="TextBox 16">
            <a:extLst>
              <a:ext uri="{FF2B5EF4-FFF2-40B4-BE49-F238E27FC236}">
                <a16:creationId xmlns:a16="http://schemas.microsoft.com/office/drawing/2014/main" id="{42D1469D-CC18-A51C-D42C-8A4CACF92A80}"/>
              </a:ext>
            </a:extLst>
          </p:cNvPr>
          <p:cNvSpPr txBox="1"/>
          <p:nvPr/>
        </p:nvSpPr>
        <p:spPr>
          <a:xfrm>
            <a:off x="8933653" y="7754048"/>
            <a:ext cx="2361706" cy="478766"/>
          </a:xfrm>
          <a:prstGeom prst="rect">
            <a:avLst/>
          </a:prstGeom>
          <a:noFill/>
        </p:spPr>
        <p:txBody>
          <a:bodyPr wrap="square" rtlCol="0">
            <a:spAutoFit/>
          </a:bodyPr>
          <a:lstStyle/>
          <a:p>
            <a:r>
              <a:rPr lang="en-US" sz="1200" dirty="0">
                <a:solidFill>
                  <a:srgbClr val="5A6B7C"/>
                </a:solidFill>
                <a:latin typeface="Amasis MT Pro Light" panose="02040304050005020304" pitchFamily="18" charset="0"/>
              </a:rPr>
              <a:t>Customers who have no Tech Support contribute to churn</a:t>
            </a:r>
          </a:p>
        </p:txBody>
      </p:sp>
      <p:sp>
        <p:nvSpPr>
          <p:cNvPr id="18" name="TextBox 17">
            <a:extLst>
              <a:ext uri="{FF2B5EF4-FFF2-40B4-BE49-F238E27FC236}">
                <a16:creationId xmlns:a16="http://schemas.microsoft.com/office/drawing/2014/main" id="{DF1AD0AF-8000-3B64-0E1C-3AAE9E8B92BC}"/>
              </a:ext>
            </a:extLst>
          </p:cNvPr>
          <p:cNvSpPr txBox="1"/>
          <p:nvPr/>
        </p:nvSpPr>
        <p:spPr>
          <a:xfrm>
            <a:off x="866486" y="1362414"/>
            <a:ext cx="4374254" cy="338554"/>
          </a:xfrm>
          <a:prstGeom prst="rect">
            <a:avLst/>
          </a:prstGeom>
          <a:noFill/>
        </p:spPr>
        <p:txBody>
          <a:bodyPr wrap="square" rtlCol="0">
            <a:spAutoFit/>
          </a:bodyPr>
          <a:lstStyle/>
          <a:p>
            <a:r>
              <a:rPr lang="en-US" sz="1600" spc="300" dirty="0">
                <a:solidFill>
                  <a:srgbClr val="5099AA"/>
                </a:solidFill>
                <a:latin typeface="Calibri Light" panose="020F0302020204030204" pitchFamily="34" charset="0"/>
                <a:ea typeface="Calibri Light" panose="020F0302020204030204" pitchFamily="34" charset="0"/>
                <a:cs typeface="Calibri Light" panose="020F0302020204030204" pitchFamily="34" charset="0"/>
              </a:rPr>
              <a:t>CHURN RATE BY PAYMENT METHOD</a:t>
            </a:r>
          </a:p>
        </p:txBody>
      </p:sp>
      <p:pic>
        <p:nvPicPr>
          <p:cNvPr id="23" name="Picture 22">
            <a:extLst>
              <a:ext uri="{FF2B5EF4-FFF2-40B4-BE49-F238E27FC236}">
                <a16:creationId xmlns:a16="http://schemas.microsoft.com/office/drawing/2014/main" id="{31A7919F-F16F-B37D-32D3-88752F273D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6486" y="1741742"/>
            <a:ext cx="9110027" cy="4372135"/>
          </a:xfrm>
          <a:prstGeom prst="rect">
            <a:avLst/>
          </a:prstGeom>
          <a:effectLst>
            <a:outerShdw blurRad="50800" dist="38100" dir="2700000" algn="tl" rotWithShape="0">
              <a:prstClr val="black">
                <a:alpha val="20000"/>
              </a:prstClr>
            </a:outerShdw>
          </a:effectLst>
        </p:spPr>
      </p:pic>
      <p:sp>
        <p:nvSpPr>
          <p:cNvPr id="25" name="TextBox 24">
            <a:extLst>
              <a:ext uri="{FF2B5EF4-FFF2-40B4-BE49-F238E27FC236}">
                <a16:creationId xmlns:a16="http://schemas.microsoft.com/office/drawing/2014/main" id="{CA9E17DC-1563-B11A-318A-03FAF510730F}"/>
              </a:ext>
            </a:extLst>
          </p:cNvPr>
          <p:cNvSpPr txBox="1"/>
          <p:nvPr/>
        </p:nvSpPr>
        <p:spPr>
          <a:xfrm>
            <a:off x="1342874" y="7762086"/>
            <a:ext cx="2761257" cy="470728"/>
          </a:xfrm>
          <a:prstGeom prst="rect">
            <a:avLst/>
          </a:prstGeom>
          <a:noFill/>
        </p:spPr>
        <p:txBody>
          <a:bodyPr wrap="square" rtlCol="0">
            <a:spAutoFit/>
          </a:bodyPr>
          <a:lstStyle/>
          <a:p>
            <a:r>
              <a:rPr lang="en-US" sz="1200" dirty="0">
                <a:solidFill>
                  <a:srgbClr val="5A6B7C"/>
                </a:solidFill>
                <a:latin typeface="Amasis MT Pro Light" panose="02040304050005020304" pitchFamily="18" charset="0"/>
              </a:rPr>
              <a:t>Churn rate for customers who use the Electronic Check payment method.</a:t>
            </a:r>
          </a:p>
        </p:txBody>
      </p:sp>
      <p:sp>
        <p:nvSpPr>
          <p:cNvPr id="26" name="TextBox 25">
            <a:extLst>
              <a:ext uri="{FF2B5EF4-FFF2-40B4-BE49-F238E27FC236}">
                <a16:creationId xmlns:a16="http://schemas.microsoft.com/office/drawing/2014/main" id="{BB5E26B5-3289-075B-F653-53E48E865D31}"/>
              </a:ext>
            </a:extLst>
          </p:cNvPr>
          <p:cNvSpPr txBox="1"/>
          <p:nvPr/>
        </p:nvSpPr>
        <p:spPr>
          <a:xfrm>
            <a:off x="11553151" y="6660334"/>
            <a:ext cx="3517504" cy="1815882"/>
          </a:xfrm>
          <a:prstGeom prst="rect">
            <a:avLst/>
          </a:prstGeom>
          <a:noFill/>
        </p:spPr>
        <p:txBody>
          <a:bodyPr wrap="square" rtlCol="0">
            <a:spAutoFit/>
          </a:bodyPr>
          <a:lstStyle/>
          <a:p>
            <a:r>
              <a:rPr lang="en-US" sz="1400" dirty="0">
                <a:solidFill>
                  <a:srgbClr val="14262A"/>
                </a:solidFill>
                <a:latin typeface="Amasis MT Pro Light" panose="02040304050005020304" pitchFamily="18" charset="0"/>
              </a:rPr>
              <a:t>This suggests that the presence of tech support is associated with meaningfully better retention, and that customers lacking this service are considerably more likely to churn, indicating that expanding tech support adoption could be an effective lever for reducing churn among at-risk segments..</a:t>
            </a:r>
          </a:p>
          <a:p>
            <a:endParaRPr lang="en-US" sz="1400" dirty="0">
              <a:solidFill>
                <a:srgbClr val="14262A"/>
              </a:solidFill>
              <a:latin typeface="Amasis MT Pro Light" panose="02040304050005020304" pitchFamily="18" charset="0"/>
            </a:endParaRPr>
          </a:p>
        </p:txBody>
      </p:sp>
      <p:sp>
        <p:nvSpPr>
          <p:cNvPr id="27" name="TextBox 26">
            <a:extLst>
              <a:ext uri="{FF2B5EF4-FFF2-40B4-BE49-F238E27FC236}">
                <a16:creationId xmlns:a16="http://schemas.microsoft.com/office/drawing/2014/main" id="{EFC25F2D-81EE-4116-A6BC-6DD46FE850DA}"/>
              </a:ext>
            </a:extLst>
          </p:cNvPr>
          <p:cNvSpPr txBox="1"/>
          <p:nvPr/>
        </p:nvSpPr>
        <p:spPr>
          <a:xfrm>
            <a:off x="10114506" y="1356333"/>
            <a:ext cx="4374254" cy="338554"/>
          </a:xfrm>
          <a:prstGeom prst="rect">
            <a:avLst/>
          </a:prstGeom>
          <a:noFill/>
        </p:spPr>
        <p:txBody>
          <a:bodyPr wrap="square" rtlCol="0">
            <a:spAutoFit/>
          </a:bodyPr>
          <a:lstStyle/>
          <a:p>
            <a:r>
              <a:rPr lang="en-US" sz="1600" spc="300" dirty="0">
                <a:solidFill>
                  <a:srgbClr val="5099AA"/>
                </a:solidFill>
                <a:latin typeface="Calibri Light" panose="020F0302020204030204" pitchFamily="34" charset="0"/>
                <a:ea typeface="Calibri Light" panose="020F0302020204030204" pitchFamily="34" charset="0"/>
                <a:cs typeface="Calibri Light" panose="020F0302020204030204" pitchFamily="34" charset="0"/>
              </a:rPr>
              <a:t>CHURN RATE BY TECH SUPPORT</a:t>
            </a:r>
          </a:p>
        </p:txBody>
      </p:sp>
    </p:spTree>
    <p:extLst>
      <p:ext uri="{BB962C8B-B14F-4D97-AF65-F5344CB8AC3E}">
        <p14:creationId xmlns:p14="http://schemas.microsoft.com/office/powerpoint/2010/main" val="3947130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1EB"/>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F138FB7-9F29-B65E-2E10-1F58AB0A0DBE}"/>
              </a:ext>
            </a:extLst>
          </p:cNvPr>
          <p:cNvSpPr txBox="1"/>
          <p:nvPr/>
        </p:nvSpPr>
        <p:spPr>
          <a:xfrm>
            <a:off x="916983" y="712820"/>
            <a:ext cx="14777427" cy="553998"/>
          </a:xfrm>
          <a:prstGeom prst="rect">
            <a:avLst/>
          </a:prstGeom>
          <a:noFill/>
        </p:spPr>
        <p:txBody>
          <a:bodyPr wrap="square" rtlCol="0">
            <a:spAutoFit/>
          </a:bodyPr>
          <a:lstStyle/>
          <a:p>
            <a:r>
              <a:rPr lang="en-US" sz="3000" dirty="0">
                <a:solidFill>
                  <a:srgbClr val="14262A"/>
                </a:solidFill>
                <a:effectLst/>
                <a:latin typeface="Amasis MT Pro Light" panose="02040304050005020304" pitchFamily="18" charset="0"/>
              </a:rPr>
              <a:t>Monthly Charges and Senior Citizen status exhibit weak positive correlations with Churn</a:t>
            </a:r>
          </a:p>
        </p:txBody>
      </p:sp>
      <p:sp>
        <p:nvSpPr>
          <p:cNvPr id="5" name="Rectangle 4">
            <a:extLst>
              <a:ext uri="{FF2B5EF4-FFF2-40B4-BE49-F238E27FC236}">
                <a16:creationId xmlns:a16="http://schemas.microsoft.com/office/drawing/2014/main" id="{10092EF7-4697-3B8A-85FC-1DF51257E280}"/>
              </a:ext>
            </a:extLst>
          </p:cNvPr>
          <p:cNvSpPr/>
          <p:nvPr/>
        </p:nvSpPr>
        <p:spPr>
          <a:xfrm rot="5400000" flipV="1">
            <a:off x="621344" y="970958"/>
            <a:ext cx="450411" cy="91440"/>
          </a:xfrm>
          <a:prstGeom prst="rect">
            <a:avLst/>
          </a:prstGeom>
          <a:solidFill>
            <a:srgbClr val="5099AA"/>
          </a:solidFill>
          <a:ln>
            <a:noFill/>
          </a:ln>
          <a:effectLst>
            <a:outerShdw blurRad="508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96CC49E7-3515-2492-0A22-C50C10F949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5542" y="2074460"/>
            <a:ext cx="8277516" cy="6356722"/>
          </a:xfrm>
          <a:prstGeom prst="rect">
            <a:avLst/>
          </a:prstGeom>
          <a:effectLst>
            <a:outerShdw blurRad="50800" dist="38100" dir="2700000" algn="tl" rotWithShape="0">
              <a:prstClr val="black">
                <a:alpha val="20000"/>
              </a:prstClr>
            </a:outerShdw>
          </a:effectLst>
        </p:spPr>
      </p:pic>
      <p:sp>
        <p:nvSpPr>
          <p:cNvPr id="7" name="Rectangle 6">
            <a:extLst>
              <a:ext uri="{FF2B5EF4-FFF2-40B4-BE49-F238E27FC236}">
                <a16:creationId xmlns:a16="http://schemas.microsoft.com/office/drawing/2014/main" id="{E75EF5C2-2369-8F8B-51B5-077666566CFA}"/>
              </a:ext>
            </a:extLst>
          </p:cNvPr>
          <p:cNvSpPr/>
          <p:nvPr/>
        </p:nvSpPr>
        <p:spPr>
          <a:xfrm rot="5400000" flipV="1">
            <a:off x="9277117" y="2277843"/>
            <a:ext cx="6356721" cy="5949960"/>
          </a:xfrm>
          <a:prstGeom prst="rect">
            <a:avLst/>
          </a:prstGeom>
          <a:solidFill>
            <a:srgbClr val="EDE8E0"/>
          </a:solidFill>
          <a:ln>
            <a:noFill/>
          </a:ln>
          <a:effectLst>
            <a:outerShdw blurRad="508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95A951CB-400A-473B-1A03-924EEC8C4052}"/>
              </a:ext>
            </a:extLst>
          </p:cNvPr>
          <p:cNvSpPr txBox="1"/>
          <p:nvPr/>
        </p:nvSpPr>
        <p:spPr>
          <a:xfrm>
            <a:off x="739286" y="1707588"/>
            <a:ext cx="2986553" cy="338554"/>
          </a:xfrm>
          <a:prstGeom prst="rect">
            <a:avLst/>
          </a:prstGeom>
          <a:noFill/>
        </p:spPr>
        <p:txBody>
          <a:bodyPr wrap="square" rtlCol="0">
            <a:spAutoFit/>
          </a:bodyPr>
          <a:lstStyle/>
          <a:p>
            <a:r>
              <a:rPr lang="en-US" sz="1600" spc="300" dirty="0">
                <a:solidFill>
                  <a:srgbClr val="5099AA"/>
                </a:solidFill>
                <a:effectLst/>
                <a:latin typeface="Calibri Light" panose="020F0302020204030204" pitchFamily="34" charset="0"/>
                <a:ea typeface="Calibri Light" panose="020F0302020204030204" pitchFamily="34" charset="0"/>
                <a:cs typeface="Calibri Light" panose="020F0302020204030204" pitchFamily="34" charset="0"/>
              </a:rPr>
              <a:t>CORRELATION HEATMAP</a:t>
            </a:r>
          </a:p>
        </p:txBody>
      </p:sp>
      <p:sp>
        <p:nvSpPr>
          <p:cNvPr id="10" name="TextBox 9">
            <a:extLst>
              <a:ext uri="{FF2B5EF4-FFF2-40B4-BE49-F238E27FC236}">
                <a16:creationId xmlns:a16="http://schemas.microsoft.com/office/drawing/2014/main" id="{44AA79DA-2266-7533-2A6E-23677CC7EA35}"/>
              </a:ext>
            </a:extLst>
          </p:cNvPr>
          <p:cNvSpPr txBox="1"/>
          <p:nvPr/>
        </p:nvSpPr>
        <p:spPr>
          <a:xfrm>
            <a:off x="9778058" y="2563205"/>
            <a:ext cx="2027257" cy="1015663"/>
          </a:xfrm>
          <a:prstGeom prst="rect">
            <a:avLst/>
          </a:prstGeom>
          <a:noFill/>
        </p:spPr>
        <p:txBody>
          <a:bodyPr wrap="square" rtlCol="0">
            <a:spAutoFit/>
          </a:bodyPr>
          <a:lstStyle/>
          <a:p>
            <a:pPr algn="ctr"/>
            <a:r>
              <a:rPr lang="en-US" sz="6000" b="1" spc="300" dirty="0">
                <a:solidFill>
                  <a:srgbClr val="6F8D91"/>
                </a:solidFill>
                <a:effectLst/>
                <a:latin typeface="Oranienbaum" panose="02000506080000020003" pitchFamily="2" charset="0"/>
                <a:ea typeface="Calibri Light" panose="020F0302020204030204" pitchFamily="34" charset="0"/>
                <a:cs typeface="Calibri Light" panose="020F0302020204030204" pitchFamily="34" charset="0"/>
              </a:rPr>
              <a:t>-0.35</a:t>
            </a:r>
          </a:p>
        </p:txBody>
      </p:sp>
      <p:sp>
        <p:nvSpPr>
          <p:cNvPr id="11" name="TextBox 10">
            <a:extLst>
              <a:ext uri="{FF2B5EF4-FFF2-40B4-BE49-F238E27FC236}">
                <a16:creationId xmlns:a16="http://schemas.microsoft.com/office/drawing/2014/main" id="{28084BA7-BE4D-7A77-E7D2-ED37AC4FBF63}"/>
              </a:ext>
            </a:extLst>
          </p:cNvPr>
          <p:cNvSpPr txBox="1"/>
          <p:nvPr/>
        </p:nvSpPr>
        <p:spPr>
          <a:xfrm>
            <a:off x="11977620" y="2486912"/>
            <a:ext cx="3177066" cy="1169551"/>
          </a:xfrm>
          <a:prstGeom prst="rect">
            <a:avLst/>
          </a:prstGeom>
          <a:noFill/>
        </p:spPr>
        <p:txBody>
          <a:bodyPr wrap="square" rtlCol="0">
            <a:spAutoFit/>
          </a:bodyPr>
          <a:lstStyle/>
          <a:p>
            <a:r>
              <a:rPr lang="en-US" sz="1400" dirty="0">
                <a:solidFill>
                  <a:srgbClr val="14262A"/>
                </a:solidFill>
                <a:latin typeface="Amasis MT Pro Light" panose="02040304050005020304" pitchFamily="18" charset="0"/>
              </a:rPr>
              <a:t>T</a:t>
            </a:r>
            <a:r>
              <a:rPr lang="en-US" sz="1400" dirty="0">
                <a:solidFill>
                  <a:srgbClr val="14262A"/>
                </a:solidFill>
                <a:effectLst/>
                <a:latin typeface="Amasis MT Pro Light" panose="02040304050005020304" pitchFamily="18" charset="0"/>
              </a:rPr>
              <a:t>he correlation heatmap indicates that tenure has the strongest negative relationship with churn, suggesting that customers who stay longer are less likely to leave. </a:t>
            </a:r>
          </a:p>
        </p:txBody>
      </p:sp>
      <p:sp>
        <p:nvSpPr>
          <p:cNvPr id="12" name="TextBox 11">
            <a:extLst>
              <a:ext uri="{FF2B5EF4-FFF2-40B4-BE49-F238E27FC236}">
                <a16:creationId xmlns:a16="http://schemas.microsoft.com/office/drawing/2014/main" id="{28AE4B2B-0C59-71D5-9A7C-EAF8A11D60E8}"/>
              </a:ext>
            </a:extLst>
          </p:cNvPr>
          <p:cNvSpPr txBox="1"/>
          <p:nvPr/>
        </p:nvSpPr>
        <p:spPr>
          <a:xfrm>
            <a:off x="9778059" y="4019489"/>
            <a:ext cx="2027256" cy="1015663"/>
          </a:xfrm>
          <a:prstGeom prst="rect">
            <a:avLst/>
          </a:prstGeom>
          <a:noFill/>
        </p:spPr>
        <p:txBody>
          <a:bodyPr wrap="square" rtlCol="0">
            <a:spAutoFit/>
          </a:bodyPr>
          <a:lstStyle/>
          <a:p>
            <a:pPr algn="ctr"/>
            <a:r>
              <a:rPr lang="en-US" sz="6000" b="1" spc="300" dirty="0">
                <a:solidFill>
                  <a:srgbClr val="4B6B70"/>
                </a:solidFill>
                <a:effectLst/>
                <a:latin typeface="Oranienbaum" panose="02000506080000020003" pitchFamily="2" charset="0"/>
                <a:ea typeface="Calibri Light" panose="020F0302020204030204" pitchFamily="34" charset="0"/>
                <a:cs typeface="Calibri Light" panose="020F0302020204030204" pitchFamily="34" charset="0"/>
              </a:rPr>
              <a:t>-0.28</a:t>
            </a:r>
          </a:p>
        </p:txBody>
      </p:sp>
      <p:sp>
        <p:nvSpPr>
          <p:cNvPr id="13" name="TextBox 12">
            <a:extLst>
              <a:ext uri="{FF2B5EF4-FFF2-40B4-BE49-F238E27FC236}">
                <a16:creationId xmlns:a16="http://schemas.microsoft.com/office/drawing/2014/main" id="{55E7585E-0115-6449-EB3F-7D5D35C8BA3F}"/>
              </a:ext>
            </a:extLst>
          </p:cNvPr>
          <p:cNvSpPr txBox="1"/>
          <p:nvPr/>
        </p:nvSpPr>
        <p:spPr>
          <a:xfrm>
            <a:off x="11977621" y="3834822"/>
            <a:ext cx="3177065" cy="1169551"/>
          </a:xfrm>
          <a:prstGeom prst="rect">
            <a:avLst/>
          </a:prstGeom>
          <a:noFill/>
        </p:spPr>
        <p:txBody>
          <a:bodyPr wrap="square" rtlCol="0">
            <a:spAutoFit/>
          </a:bodyPr>
          <a:lstStyle/>
          <a:p>
            <a:endParaRPr lang="en-US" sz="1400" dirty="0">
              <a:solidFill>
                <a:srgbClr val="14262A"/>
              </a:solidFill>
              <a:latin typeface="Amasis MT Pro Light" panose="02040304050005020304" pitchFamily="18" charset="0"/>
            </a:endParaRPr>
          </a:p>
          <a:p>
            <a:r>
              <a:rPr lang="en-US" sz="1400" dirty="0">
                <a:solidFill>
                  <a:srgbClr val="14262A"/>
                </a:solidFill>
                <a:effectLst/>
                <a:latin typeface="Amasis MT Pro Light" panose="02040304050005020304" pitchFamily="18" charset="0"/>
              </a:rPr>
              <a:t>Tech Support also shows a moderate negative correlation with churn, while Monthly Charges and Senior Citizen status exhibit weak positive correlations. </a:t>
            </a:r>
          </a:p>
        </p:txBody>
      </p:sp>
      <p:sp>
        <p:nvSpPr>
          <p:cNvPr id="17" name="TextBox 16">
            <a:extLst>
              <a:ext uri="{FF2B5EF4-FFF2-40B4-BE49-F238E27FC236}">
                <a16:creationId xmlns:a16="http://schemas.microsoft.com/office/drawing/2014/main" id="{E551CF6D-8B81-8B2E-14C9-470B5DC529A8}"/>
              </a:ext>
            </a:extLst>
          </p:cNvPr>
          <p:cNvSpPr txBox="1"/>
          <p:nvPr/>
        </p:nvSpPr>
        <p:spPr>
          <a:xfrm>
            <a:off x="9778058" y="5475121"/>
            <a:ext cx="2027257" cy="1015663"/>
          </a:xfrm>
          <a:prstGeom prst="rect">
            <a:avLst/>
          </a:prstGeom>
          <a:noFill/>
        </p:spPr>
        <p:txBody>
          <a:bodyPr wrap="square" rtlCol="0">
            <a:spAutoFit/>
          </a:bodyPr>
          <a:lstStyle/>
          <a:p>
            <a:pPr algn="ctr"/>
            <a:r>
              <a:rPr lang="en-US" sz="6000" b="1" spc="300" dirty="0">
                <a:solidFill>
                  <a:srgbClr val="315258"/>
                </a:solidFill>
                <a:effectLst/>
                <a:latin typeface="Oranienbaum" panose="02000506080000020003" pitchFamily="2" charset="0"/>
                <a:ea typeface="Calibri Light" panose="020F0302020204030204" pitchFamily="34" charset="0"/>
                <a:cs typeface="Calibri Light" panose="020F0302020204030204" pitchFamily="34" charset="0"/>
              </a:rPr>
              <a:t>+0.83</a:t>
            </a:r>
          </a:p>
        </p:txBody>
      </p:sp>
      <p:sp>
        <p:nvSpPr>
          <p:cNvPr id="18" name="TextBox 17">
            <a:extLst>
              <a:ext uri="{FF2B5EF4-FFF2-40B4-BE49-F238E27FC236}">
                <a16:creationId xmlns:a16="http://schemas.microsoft.com/office/drawing/2014/main" id="{D5515BB6-48E7-F906-ABBD-D0FA2A140145}"/>
              </a:ext>
            </a:extLst>
          </p:cNvPr>
          <p:cNvSpPr txBox="1"/>
          <p:nvPr/>
        </p:nvSpPr>
        <p:spPr>
          <a:xfrm>
            <a:off x="11977621" y="5398176"/>
            <a:ext cx="3177065" cy="1169551"/>
          </a:xfrm>
          <a:prstGeom prst="rect">
            <a:avLst/>
          </a:prstGeom>
          <a:noFill/>
        </p:spPr>
        <p:txBody>
          <a:bodyPr wrap="square" rtlCol="0">
            <a:spAutoFit/>
          </a:bodyPr>
          <a:lstStyle/>
          <a:p>
            <a:r>
              <a:rPr lang="en-US" sz="1400" dirty="0">
                <a:solidFill>
                  <a:srgbClr val="14262A"/>
                </a:solidFill>
                <a:effectLst/>
                <a:latin typeface="Amasis MT Pro Light" panose="02040304050005020304" pitchFamily="18" charset="0"/>
              </a:rPr>
              <a:t>Additionally, Tenure and Total Charges are strongly positively correlated, reflecting that customers with longer tenures naturally accumulate higher total charges. </a:t>
            </a:r>
          </a:p>
        </p:txBody>
      </p:sp>
      <p:sp>
        <p:nvSpPr>
          <p:cNvPr id="20" name="TextBox 19">
            <a:extLst>
              <a:ext uri="{FF2B5EF4-FFF2-40B4-BE49-F238E27FC236}">
                <a16:creationId xmlns:a16="http://schemas.microsoft.com/office/drawing/2014/main" id="{3EDA6910-D3A8-483C-82AC-F152F8D824F3}"/>
              </a:ext>
            </a:extLst>
          </p:cNvPr>
          <p:cNvSpPr txBox="1"/>
          <p:nvPr/>
        </p:nvSpPr>
        <p:spPr>
          <a:xfrm>
            <a:off x="9911553" y="7192656"/>
            <a:ext cx="5243133" cy="738664"/>
          </a:xfrm>
          <a:prstGeom prst="rect">
            <a:avLst/>
          </a:prstGeom>
          <a:noFill/>
        </p:spPr>
        <p:txBody>
          <a:bodyPr wrap="square" rtlCol="0">
            <a:spAutoFit/>
          </a:bodyPr>
          <a:lstStyle/>
          <a:p>
            <a:r>
              <a:rPr lang="en-US" sz="1400" dirty="0">
                <a:solidFill>
                  <a:srgbClr val="14262A"/>
                </a:solidFill>
                <a:effectLst/>
                <a:latin typeface="Amasis MT Pro Light" panose="02040304050005020304" pitchFamily="18" charset="0"/>
              </a:rPr>
              <a:t>While some variables exhibit moderate correlations, no extremely strong correlations are observed, suggesting that multiple factors collectively influence customer churn.</a:t>
            </a:r>
          </a:p>
        </p:txBody>
      </p:sp>
      <p:sp>
        <p:nvSpPr>
          <p:cNvPr id="21" name="TextBox 20">
            <a:extLst>
              <a:ext uri="{FF2B5EF4-FFF2-40B4-BE49-F238E27FC236}">
                <a16:creationId xmlns:a16="http://schemas.microsoft.com/office/drawing/2014/main" id="{5CB76159-1A61-DBEF-7F80-65485A3CBB03}"/>
              </a:ext>
            </a:extLst>
          </p:cNvPr>
          <p:cNvSpPr txBox="1"/>
          <p:nvPr/>
        </p:nvSpPr>
        <p:spPr>
          <a:xfrm>
            <a:off x="9380593" y="1707588"/>
            <a:ext cx="3789497" cy="338554"/>
          </a:xfrm>
          <a:prstGeom prst="rect">
            <a:avLst/>
          </a:prstGeom>
          <a:noFill/>
        </p:spPr>
        <p:txBody>
          <a:bodyPr wrap="square" rtlCol="0">
            <a:spAutoFit/>
          </a:bodyPr>
          <a:lstStyle/>
          <a:p>
            <a:r>
              <a:rPr lang="en-US" sz="1600" spc="300" dirty="0">
                <a:solidFill>
                  <a:srgbClr val="5099AA"/>
                </a:solidFill>
                <a:latin typeface="Calibri Light" panose="020F0302020204030204" pitchFamily="34" charset="0"/>
                <a:ea typeface="Calibri Light" panose="020F0302020204030204" pitchFamily="34" charset="0"/>
                <a:cs typeface="Calibri Light" panose="020F0302020204030204" pitchFamily="34" charset="0"/>
              </a:rPr>
              <a:t>SOME CORRELATION FINDINGS</a:t>
            </a:r>
            <a:endParaRPr lang="en-US" sz="1600" spc="300" dirty="0">
              <a:solidFill>
                <a:srgbClr val="5099AA"/>
              </a:solidFill>
              <a:effectLst/>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33682086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1EB"/>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F138FB7-9F29-B65E-2E10-1F58AB0A0DBE}"/>
              </a:ext>
            </a:extLst>
          </p:cNvPr>
          <p:cNvSpPr txBox="1"/>
          <p:nvPr/>
        </p:nvSpPr>
        <p:spPr>
          <a:xfrm>
            <a:off x="1658572" y="615256"/>
            <a:ext cx="4401642" cy="707886"/>
          </a:xfrm>
          <a:prstGeom prst="rect">
            <a:avLst/>
          </a:prstGeom>
          <a:noFill/>
        </p:spPr>
        <p:txBody>
          <a:bodyPr wrap="square" rtlCol="0">
            <a:spAutoFit/>
          </a:bodyPr>
          <a:lstStyle/>
          <a:p>
            <a:r>
              <a:rPr lang="en-US" sz="4000" dirty="0">
                <a:solidFill>
                  <a:srgbClr val="14262A"/>
                </a:solidFill>
                <a:latin typeface="Amasis MT Pro Light" panose="02040304050005020304" pitchFamily="18" charset="0"/>
              </a:rPr>
              <a:t>Drill-down Analysis </a:t>
            </a:r>
          </a:p>
        </p:txBody>
      </p:sp>
      <p:sp>
        <p:nvSpPr>
          <p:cNvPr id="5" name="Rectangle 4">
            <a:extLst>
              <a:ext uri="{FF2B5EF4-FFF2-40B4-BE49-F238E27FC236}">
                <a16:creationId xmlns:a16="http://schemas.microsoft.com/office/drawing/2014/main" id="{10092EF7-4697-3B8A-85FC-1DF51257E280}"/>
              </a:ext>
            </a:extLst>
          </p:cNvPr>
          <p:cNvSpPr/>
          <p:nvPr/>
        </p:nvSpPr>
        <p:spPr>
          <a:xfrm rot="5400000" flipV="1">
            <a:off x="1239274" y="923479"/>
            <a:ext cx="574161" cy="91440"/>
          </a:xfrm>
          <a:prstGeom prst="rect">
            <a:avLst/>
          </a:prstGeom>
          <a:solidFill>
            <a:srgbClr val="5099AA"/>
          </a:solidFill>
          <a:ln>
            <a:noFill/>
          </a:ln>
          <a:effectLst>
            <a:outerShdw blurRad="508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2ED8E652-F526-50E2-AA9E-AE328E001A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80633" y="1760561"/>
            <a:ext cx="13481405" cy="4352206"/>
          </a:xfrm>
          <a:prstGeom prst="rect">
            <a:avLst/>
          </a:prstGeom>
          <a:solidFill>
            <a:srgbClr val="EDE8E0"/>
          </a:solidFill>
          <a:ln>
            <a:noFill/>
          </a:ln>
          <a:effectLst>
            <a:outerShdw blurRad="50800" dist="38100" dir="2700000" algn="tl" rotWithShape="0">
              <a:prstClr val="black">
                <a:alpha val="15000"/>
              </a:prstClr>
            </a:outerShdw>
          </a:effectLst>
        </p:spPr>
      </p:pic>
      <p:sp>
        <p:nvSpPr>
          <p:cNvPr id="16" name="TextBox 15">
            <a:extLst>
              <a:ext uri="{FF2B5EF4-FFF2-40B4-BE49-F238E27FC236}">
                <a16:creationId xmlns:a16="http://schemas.microsoft.com/office/drawing/2014/main" id="{FD003AE7-E522-2161-C0AA-02F413B3F8DE}"/>
              </a:ext>
            </a:extLst>
          </p:cNvPr>
          <p:cNvSpPr txBox="1"/>
          <p:nvPr/>
        </p:nvSpPr>
        <p:spPr>
          <a:xfrm>
            <a:off x="6591869" y="6617048"/>
            <a:ext cx="8370169" cy="1815882"/>
          </a:xfrm>
          <a:prstGeom prst="rect">
            <a:avLst/>
          </a:prstGeom>
          <a:noFill/>
        </p:spPr>
        <p:txBody>
          <a:bodyPr wrap="square" rtlCol="0">
            <a:spAutoFit/>
          </a:bodyPr>
          <a:lstStyle/>
          <a:p>
            <a:r>
              <a:rPr lang="en-US" sz="1600" b="0" dirty="0">
                <a:solidFill>
                  <a:srgbClr val="14262A"/>
                </a:solidFill>
                <a:effectLst/>
                <a:latin typeface="Amasis MT Pro Light" panose="02040304050005020304" pitchFamily="18" charset="0"/>
              </a:rPr>
              <a:t>The combined analysis of month-to-month contract type, payment method, and internet service reveals that customers on </a:t>
            </a:r>
            <a:r>
              <a:rPr lang="en-US" sz="1600" dirty="0">
                <a:solidFill>
                  <a:srgbClr val="14262A"/>
                </a:solidFill>
                <a:latin typeface="Amasis MT Pro Light" panose="02040304050005020304" pitchFamily="18" charset="0"/>
              </a:rPr>
              <a:t>m</a:t>
            </a:r>
            <a:r>
              <a:rPr lang="en-US" sz="1600" b="0" dirty="0">
                <a:solidFill>
                  <a:srgbClr val="14262A"/>
                </a:solidFill>
                <a:effectLst/>
                <a:latin typeface="Amasis MT Pro Light" panose="02040304050005020304" pitchFamily="18" charset="0"/>
              </a:rPr>
              <a:t>onth-to-month contracts who use Fiber Optic internet and pay via </a:t>
            </a:r>
            <a:r>
              <a:rPr lang="en-US" sz="1600" i="1" dirty="0">
                <a:solidFill>
                  <a:srgbClr val="14262A"/>
                </a:solidFill>
                <a:latin typeface="Amasis MT Pro Light" panose="02040304050005020304" pitchFamily="18" charset="0"/>
              </a:rPr>
              <a:t> </a:t>
            </a:r>
            <a:r>
              <a:rPr lang="en-US" sz="1600" b="0" dirty="0">
                <a:solidFill>
                  <a:srgbClr val="14262A"/>
                </a:solidFill>
                <a:effectLst/>
                <a:latin typeface="Amasis MT Pro Light" panose="02040304050005020304" pitchFamily="18" charset="0"/>
              </a:rPr>
              <a:t>Electronic Check exhibit the highest churn rate (60.4%). High churn is also observed among month-to-month Fiber Optic customers using Mailed Check (50.7%) and Bank Transfer (45.6%). These findings suggest that contract type remains the strongest determinant of retention, while Fiber Optic service and Electronic Check further increase churn risk within the month-to-month customer segment.</a:t>
            </a:r>
          </a:p>
        </p:txBody>
      </p:sp>
      <p:sp>
        <p:nvSpPr>
          <p:cNvPr id="17" name="Rectangle 16">
            <a:extLst>
              <a:ext uri="{FF2B5EF4-FFF2-40B4-BE49-F238E27FC236}">
                <a16:creationId xmlns:a16="http://schemas.microsoft.com/office/drawing/2014/main" id="{0BD112CD-F798-38BA-0243-ECC07AE9DDEA}"/>
              </a:ext>
            </a:extLst>
          </p:cNvPr>
          <p:cNvSpPr/>
          <p:nvPr/>
        </p:nvSpPr>
        <p:spPr>
          <a:xfrm rot="5400000" flipV="1">
            <a:off x="2917691" y="4991042"/>
            <a:ext cx="2100646" cy="4974760"/>
          </a:xfrm>
          <a:prstGeom prst="rect">
            <a:avLst/>
          </a:prstGeom>
          <a:solidFill>
            <a:srgbClr val="EDE8E0"/>
          </a:solidFill>
          <a:ln>
            <a:noFill/>
          </a:ln>
          <a:effectLst>
            <a:outerShdw blurRad="508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37ABB30D-6DE5-AF37-74E3-F5036E7999A6}"/>
              </a:ext>
            </a:extLst>
          </p:cNvPr>
          <p:cNvSpPr txBox="1"/>
          <p:nvPr/>
        </p:nvSpPr>
        <p:spPr>
          <a:xfrm>
            <a:off x="2722709" y="6707798"/>
            <a:ext cx="2490606" cy="1169551"/>
          </a:xfrm>
          <a:prstGeom prst="rect">
            <a:avLst/>
          </a:prstGeom>
          <a:noFill/>
        </p:spPr>
        <p:txBody>
          <a:bodyPr wrap="square" rtlCol="0">
            <a:spAutoFit/>
          </a:bodyPr>
          <a:lstStyle/>
          <a:p>
            <a:pPr algn="ctr"/>
            <a:r>
              <a:rPr lang="en-US" sz="7000" dirty="0">
                <a:solidFill>
                  <a:srgbClr val="5099AA"/>
                </a:solidFill>
                <a:latin typeface="Oranienbaum" panose="02000506080000020003" pitchFamily="2" charset="0"/>
              </a:rPr>
              <a:t>60.4%</a:t>
            </a:r>
          </a:p>
        </p:txBody>
      </p:sp>
      <p:sp>
        <p:nvSpPr>
          <p:cNvPr id="20" name="TextBox 19">
            <a:extLst>
              <a:ext uri="{FF2B5EF4-FFF2-40B4-BE49-F238E27FC236}">
                <a16:creationId xmlns:a16="http://schemas.microsoft.com/office/drawing/2014/main" id="{080330E9-F65C-FC61-4CE5-D81498A4920A}"/>
              </a:ext>
            </a:extLst>
          </p:cNvPr>
          <p:cNvSpPr txBox="1"/>
          <p:nvPr/>
        </p:nvSpPr>
        <p:spPr>
          <a:xfrm>
            <a:off x="1784370" y="7741381"/>
            <a:ext cx="4367283" cy="461665"/>
          </a:xfrm>
          <a:prstGeom prst="rect">
            <a:avLst/>
          </a:prstGeom>
          <a:noFill/>
        </p:spPr>
        <p:txBody>
          <a:bodyPr wrap="square" rtlCol="0">
            <a:spAutoFit/>
          </a:bodyPr>
          <a:lstStyle/>
          <a:p>
            <a:pPr algn="ctr"/>
            <a:r>
              <a:rPr lang="en-US" sz="1200" dirty="0">
                <a:solidFill>
                  <a:srgbClr val="5A6B7C"/>
                </a:solidFill>
                <a:latin typeface="Amasis MT Pro Light" panose="02040304050005020304" pitchFamily="18" charset="0"/>
              </a:rPr>
              <a:t>Churn Rate of Fiber optic customers on a month-to-month contract and use an electronic check payment method</a:t>
            </a:r>
          </a:p>
        </p:txBody>
      </p:sp>
    </p:spTree>
    <p:extLst>
      <p:ext uri="{BB962C8B-B14F-4D97-AF65-F5344CB8AC3E}">
        <p14:creationId xmlns:p14="http://schemas.microsoft.com/office/powerpoint/2010/main" val="5833162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FB25984-9AC4-8A99-7272-DCFB945BA2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56" y="0"/>
            <a:ext cx="16242888" cy="9144000"/>
          </a:xfrm>
          <a:prstGeom prst="rect">
            <a:avLst/>
          </a:prstGeom>
        </p:spPr>
      </p:pic>
      <p:sp>
        <p:nvSpPr>
          <p:cNvPr id="4" name="Rectangle 3">
            <a:extLst>
              <a:ext uri="{FF2B5EF4-FFF2-40B4-BE49-F238E27FC236}">
                <a16:creationId xmlns:a16="http://schemas.microsoft.com/office/drawing/2014/main" id="{BD6418C3-3E3D-F973-0F8E-BCF2BBB5AD8B}"/>
              </a:ext>
            </a:extLst>
          </p:cNvPr>
          <p:cNvSpPr/>
          <p:nvPr/>
        </p:nvSpPr>
        <p:spPr>
          <a:xfrm>
            <a:off x="-14732" y="0"/>
            <a:ext cx="16285464" cy="9144000"/>
          </a:xfrm>
          <a:prstGeom prst="rect">
            <a:avLst/>
          </a:prstGeom>
          <a:gradFill flip="none" rotWithShape="1">
            <a:gsLst>
              <a:gs pos="50000">
                <a:srgbClr val="14262A">
                  <a:alpha val="91000"/>
                </a:srgbClr>
              </a:gs>
              <a:gs pos="0">
                <a:srgbClr val="14262A">
                  <a:alpha val="90000"/>
                </a:srgbClr>
              </a:gs>
              <a:gs pos="100000">
                <a:srgbClr val="14262A">
                  <a:alpha val="94902"/>
                </a:srgb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7772BAB4-74F4-16E9-6752-3E8E51628603}"/>
              </a:ext>
            </a:extLst>
          </p:cNvPr>
          <p:cNvSpPr txBox="1"/>
          <p:nvPr/>
        </p:nvSpPr>
        <p:spPr>
          <a:xfrm>
            <a:off x="3336329" y="3132948"/>
            <a:ext cx="1358493" cy="1015663"/>
          </a:xfrm>
          <a:prstGeom prst="rect">
            <a:avLst/>
          </a:prstGeom>
          <a:noFill/>
        </p:spPr>
        <p:txBody>
          <a:bodyPr wrap="square" rtlCol="0">
            <a:spAutoFit/>
          </a:bodyPr>
          <a:lstStyle/>
          <a:p>
            <a:pPr algn="ctr"/>
            <a:r>
              <a:rPr lang="en-US" sz="6000" b="1" dirty="0">
                <a:solidFill>
                  <a:srgbClr val="5099AA"/>
                </a:solidFill>
                <a:latin typeface="Oranienbaum" panose="02000506080000020003" pitchFamily="2" charset="0"/>
              </a:rPr>
              <a:t>04.</a:t>
            </a:r>
          </a:p>
        </p:txBody>
      </p:sp>
      <p:sp>
        <p:nvSpPr>
          <p:cNvPr id="10" name="Rectangle 9">
            <a:extLst>
              <a:ext uri="{FF2B5EF4-FFF2-40B4-BE49-F238E27FC236}">
                <a16:creationId xmlns:a16="http://schemas.microsoft.com/office/drawing/2014/main" id="{1209BBD8-3BDC-4A36-C248-B7D83467B8FF}"/>
              </a:ext>
            </a:extLst>
          </p:cNvPr>
          <p:cNvSpPr/>
          <p:nvPr/>
        </p:nvSpPr>
        <p:spPr>
          <a:xfrm flipV="1">
            <a:off x="3679158" y="4124370"/>
            <a:ext cx="719848" cy="118872"/>
          </a:xfrm>
          <a:prstGeom prst="rect">
            <a:avLst/>
          </a:prstGeom>
          <a:solidFill>
            <a:srgbClr val="5099AA">
              <a:alpha val="3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650BF5B6-C788-121F-49FF-3EC510C9719E}"/>
              </a:ext>
            </a:extLst>
          </p:cNvPr>
          <p:cNvSpPr txBox="1"/>
          <p:nvPr/>
        </p:nvSpPr>
        <p:spPr>
          <a:xfrm>
            <a:off x="3799573" y="4345528"/>
            <a:ext cx="6135259" cy="707886"/>
          </a:xfrm>
          <a:prstGeom prst="rect">
            <a:avLst/>
          </a:prstGeom>
          <a:noFill/>
        </p:spPr>
        <p:txBody>
          <a:bodyPr wrap="square" rtlCol="0">
            <a:spAutoFit/>
          </a:bodyPr>
          <a:lstStyle/>
          <a:p>
            <a:pPr algn="ctr"/>
            <a:r>
              <a:rPr lang="en-US" sz="4000" dirty="0">
                <a:solidFill>
                  <a:schemeClr val="bg1"/>
                </a:solidFill>
                <a:latin typeface="Amasis MT Pro Light" panose="02040304050005020304" pitchFamily="18" charset="0"/>
              </a:rPr>
              <a:t>Practical Recommendations</a:t>
            </a:r>
          </a:p>
        </p:txBody>
      </p:sp>
      <p:sp>
        <p:nvSpPr>
          <p:cNvPr id="6" name="TextBox 5">
            <a:extLst>
              <a:ext uri="{FF2B5EF4-FFF2-40B4-BE49-F238E27FC236}">
                <a16:creationId xmlns:a16="http://schemas.microsoft.com/office/drawing/2014/main" id="{3A355001-5CAC-94C0-4695-11FEDC2246D0}"/>
              </a:ext>
            </a:extLst>
          </p:cNvPr>
          <p:cNvSpPr txBox="1"/>
          <p:nvPr/>
        </p:nvSpPr>
        <p:spPr>
          <a:xfrm>
            <a:off x="3929078" y="5059842"/>
            <a:ext cx="5159632" cy="1295868"/>
          </a:xfrm>
          <a:prstGeom prst="rect">
            <a:avLst/>
          </a:prstGeom>
          <a:noFill/>
        </p:spPr>
        <p:txBody>
          <a:bodyPr wrap="square" rtlCol="0">
            <a:spAutoFit/>
          </a:bodyPr>
          <a:lstStyle/>
          <a:p>
            <a:pPr algn="l">
              <a:lnSpc>
                <a:spcPct val="150000"/>
              </a:lnSpc>
            </a:pPr>
            <a:r>
              <a:rPr lang="en-US" dirty="0">
                <a:solidFill>
                  <a:schemeClr val="bg1"/>
                </a:solidFill>
                <a:latin typeface="Calibri Light" panose="020F0302020204030204" pitchFamily="34" charset="0"/>
                <a:ea typeface="Calibri Light" panose="020F0302020204030204" pitchFamily="34" charset="0"/>
                <a:cs typeface="Calibri Light" panose="020F0302020204030204" pitchFamily="34" charset="0"/>
              </a:rPr>
              <a:t>Strategic recommendations for reducing churn and improving customer loyalty through data-driven insights.</a:t>
            </a:r>
          </a:p>
        </p:txBody>
      </p:sp>
      <p:sp>
        <p:nvSpPr>
          <p:cNvPr id="7" name="Rectangle 6">
            <a:extLst>
              <a:ext uri="{FF2B5EF4-FFF2-40B4-BE49-F238E27FC236}">
                <a16:creationId xmlns:a16="http://schemas.microsoft.com/office/drawing/2014/main" id="{9DF7F4C1-BC91-0623-E5D5-F1560E10DA07}"/>
              </a:ext>
            </a:extLst>
          </p:cNvPr>
          <p:cNvSpPr/>
          <p:nvPr/>
        </p:nvSpPr>
        <p:spPr>
          <a:xfrm rot="5400000" flipV="1">
            <a:off x="3444099" y="4591887"/>
            <a:ext cx="592277" cy="122167"/>
          </a:xfrm>
          <a:prstGeom prst="rect">
            <a:avLst/>
          </a:prstGeom>
          <a:solidFill>
            <a:srgbClr val="5099AA">
              <a:alpha val="3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989534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1EB"/>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F138FB7-9F29-B65E-2E10-1F58AB0A0DBE}"/>
              </a:ext>
            </a:extLst>
          </p:cNvPr>
          <p:cNvSpPr txBox="1"/>
          <p:nvPr/>
        </p:nvSpPr>
        <p:spPr>
          <a:xfrm>
            <a:off x="1658572" y="429905"/>
            <a:ext cx="13116793" cy="707886"/>
          </a:xfrm>
          <a:prstGeom prst="rect">
            <a:avLst/>
          </a:prstGeom>
          <a:noFill/>
        </p:spPr>
        <p:txBody>
          <a:bodyPr wrap="square" rtlCol="0">
            <a:spAutoFit/>
          </a:bodyPr>
          <a:lstStyle/>
          <a:p>
            <a:r>
              <a:rPr lang="en-US" sz="4000" dirty="0">
                <a:solidFill>
                  <a:srgbClr val="14262A"/>
                </a:solidFill>
                <a:latin typeface="Amasis MT Pro Light" panose="02040304050005020304" pitchFamily="18" charset="0"/>
              </a:rPr>
              <a:t>Six Strategic Actions to Reduce Churn and Enhance Retention</a:t>
            </a:r>
          </a:p>
        </p:txBody>
      </p:sp>
      <p:sp>
        <p:nvSpPr>
          <p:cNvPr id="5" name="Rectangle 4">
            <a:extLst>
              <a:ext uri="{FF2B5EF4-FFF2-40B4-BE49-F238E27FC236}">
                <a16:creationId xmlns:a16="http://schemas.microsoft.com/office/drawing/2014/main" id="{10092EF7-4697-3B8A-85FC-1DF51257E280}"/>
              </a:ext>
            </a:extLst>
          </p:cNvPr>
          <p:cNvSpPr/>
          <p:nvPr/>
        </p:nvSpPr>
        <p:spPr>
          <a:xfrm rot="5400000" flipV="1">
            <a:off x="1239275" y="738128"/>
            <a:ext cx="574161" cy="91440"/>
          </a:xfrm>
          <a:prstGeom prst="rect">
            <a:avLst/>
          </a:prstGeom>
          <a:solidFill>
            <a:srgbClr val="5099AA"/>
          </a:solidFill>
          <a:ln>
            <a:noFill/>
          </a:ln>
          <a:effectLst>
            <a:outerShdw blurRad="508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7016B0E-7F1B-1F96-6CB2-FDE023E02AF2}"/>
              </a:ext>
            </a:extLst>
          </p:cNvPr>
          <p:cNvSpPr/>
          <p:nvPr/>
        </p:nvSpPr>
        <p:spPr>
          <a:xfrm rot="5400000" flipV="1">
            <a:off x="1623561" y="1540438"/>
            <a:ext cx="3916909" cy="4202756"/>
          </a:xfrm>
          <a:prstGeom prst="rect">
            <a:avLst/>
          </a:prstGeom>
          <a:solidFill>
            <a:srgbClr val="EDE8E0"/>
          </a:solidFill>
          <a:ln>
            <a:noFill/>
          </a:ln>
          <a:effectLst>
            <a:outerShdw blurRad="50800" dist="38100" dir="27000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0C649DBD-D66B-37A1-0654-67B175D6FE2F}"/>
              </a:ext>
            </a:extLst>
          </p:cNvPr>
          <p:cNvSpPr/>
          <p:nvPr/>
        </p:nvSpPr>
        <p:spPr>
          <a:xfrm rot="5400000" flipV="1">
            <a:off x="6562764" y="1002885"/>
            <a:ext cx="2845287" cy="4206240"/>
          </a:xfrm>
          <a:prstGeom prst="rect">
            <a:avLst/>
          </a:prstGeom>
          <a:solidFill>
            <a:srgbClr val="EDE8E0"/>
          </a:solidFill>
          <a:ln>
            <a:noFill/>
          </a:ln>
          <a:effectLst>
            <a:outerShdw blurRad="50800" dist="38100" dir="27000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806BAA84-26B9-351F-EE1E-4A8A1EE44B0D}"/>
              </a:ext>
            </a:extLst>
          </p:cNvPr>
          <p:cNvSpPr/>
          <p:nvPr/>
        </p:nvSpPr>
        <p:spPr>
          <a:xfrm rot="5400000" flipV="1">
            <a:off x="10428602" y="1538697"/>
            <a:ext cx="3916909" cy="4206240"/>
          </a:xfrm>
          <a:prstGeom prst="rect">
            <a:avLst/>
          </a:prstGeom>
          <a:solidFill>
            <a:srgbClr val="EDE8E0"/>
          </a:solidFill>
          <a:ln>
            <a:noFill/>
          </a:ln>
          <a:effectLst>
            <a:outerShdw blurRad="50800" dist="38100" dir="27000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EB2EB6F0-FF5F-4453-72A9-CEF1CA63FA7B}"/>
              </a:ext>
            </a:extLst>
          </p:cNvPr>
          <p:cNvSpPr/>
          <p:nvPr/>
        </p:nvSpPr>
        <p:spPr>
          <a:xfrm rot="5400000" flipV="1">
            <a:off x="2157631" y="5140434"/>
            <a:ext cx="2845287" cy="4206240"/>
          </a:xfrm>
          <a:prstGeom prst="rect">
            <a:avLst/>
          </a:prstGeom>
          <a:solidFill>
            <a:srgbClr val="EDE8E0"/>
          </a:solidFill>
          <a:ln>
            <a:noFill/>
          </a:ln>
          <a:effectLst>
            <a:outerShdw blurRad="50800" dist="38100" dir="27000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5F6D197D-24FB-F8BD-DE32-DAC9BED3E017}"/>
              </a:ext>
            </a:extLst>
          </p:cNvPr>
          <p:cNvSpPr/>
          <p:nvPr/>
        </p:nvSpPr>
        <p:spPr>
          <a:xfrm rot="5400000" flipV="1">
            <a:off x="6025211" y="4606365"/>
            <a:ext cx="3916909" cy="4202756"/>
          </a:xfrm>
          <a:prstGeom prst="rect">
            <a:avLst/>
          </a:prstGeom>
          <a:solidFill>
            <a:srgbClr val="EDE8E0"/>
          </a:solidFill>
          <a:ln>
            <a:noFill/>
          </a:ln>
          <a:effectLst>
            <a:outerShdw blurRad="50800" dist="38100" dir="27000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272F4BBF-64A2-5A2D-BCB9-E02FF1505BCA}"/>
              </a:ext>
            </a:extLst>
          </p:cNvPr>
          <p:cNvSpPr/>
          <p:nvPr/>
        </p:nvSpPr>
        <p:spPr>
          <a:xfrm rot="5400000" flipV="1">
            <a:off x="10964413" y="5140435"/>
            <a:ext cx="2845287" cy="4206240"/>
          </a:xfrm>
          <a:prstGeom prst="rect">
            <a:avLst/>
          </a:prstGeom>
          <a:solidFill>
            <a:srgbClr val="EDE8E0"/>
          </a:solidFill>
          <a:ln>
            <a:noFill/>
          </a:ln>
          <a:effectLst>
            <a:outerShdw blurRad="50800" dist="38100" dir="27000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TextBox 25">
            <a:extLst>
              <a:ext uri="{FF2B5EF4-FFF2-40B4-BE49-F238E27FC236}">
                <a16:creationId xmlns:a16="http://schemas.microsoft.com/office/drawing/2014/main" id="{F5B6D898-4146-C9E8-C8D9-954F7EF68724}"/>
              </a:ext>
            </a:extLst>
          </p:cNvPr>
          <p:cNvSpPr txBox="1"/>
          <p:nvPr/>
        </p:nvSpPr>
        <p:spPr>
          <a:xfrm>
            <a:off x="1612089" y="3241004"/>
            <a:ext cx="1000467" cy="707886"/>
          </a:xfrm>
          <a:prstGeom prst="rect">
            <a:avLst/>
          </a:prstGeom>
          <a:noFill/>
        </p:spPr>
        <p:txBody>
          <a:bodyPr wrap="square" rtlCol="0">
            <a:spAutoFit/>
          </a:bodyPr>
          <a:lstStyle/>
          <a:p>
            <a:r>
              <a:rPr lang="en-US" sz="4000" b="1" dirty="0">
                <a:solidFill>
                  <a:srgbClr val="5099AA"/>
                </a:solidFill>
                <a:latin typeface="Oranienbaum" panose="02000506080000020003" pitchFamily="2" charset="0"/>
              </a:rPr>
              <a:t>01.</a:t>
            </a:r>
          </a:p>
        </p:txBody>
      </p:sp>
      <p:sp>
        <p:nvSpPr>
          <p:cNvPr id="27" name="TextBox 26">
            <a:extLst>
              <a:ext uri="{FF2B5EF4-FFF2-40B4-BE49-F238E27FC236}">
                <a16:creationId xmlns:a16="http://schemas.microsoft.com/office/drawing/2014/main" id="{9455E996-0DF6-FA7C-486E-2EB1714BC832}"/>
              </a:ext>
            </a:extLst>
          </p:cNvPr>
          <p:cNvSpPr txBox="1"/>
          <p:nvPr/>
        </p:nvSpPr>
        <p:spPr>
          <a:xfrm>
            <a:off x="1834098" y="4008521"/>
            <a:ext cx="3747872" cy="1071191"/>
          </a:xfrm>
          <a:prstGeom prst="rect">
            <a:avLst/>
          </a:prstGeom>
          <a:noFill/>
        </p:spPr>
        <p:txBody>
          <a:bodyPr wrap="square" rtlCol="0">
            <a:spAutoFit/>
          </a:bodyPr>
          <a:lstStyle/>
          <a:p>
            <a:pPr marR="0" lvl="0">
              <a:lnSpc>
                <a:spcPct val="115000"/>
              </a:lnSpc>
              <a:spcBef>
                <a:spcPts val="0"/>
              </a:spcBef>
              <a:spcAft>
                <a:spcPts val="800"/>
              </a:spcAft>
              <a:tabLst>
                <a:tab pos="457200" algn="l"/>
              </a:tabLst>
            </a:pPr>
            <a:r>
              <a:rPr lang="en-US" sz="1400" kern="100" dirty="0">
                <a:effectLst/>
                <a:latin typeface="Amasis MT Pro Light" panose="02040304050005020304" pitchFamily="18" charset="0"/>
                <a:ea typeface="Aptos" panose="020B0004020202020204" pitchFamily="34" charset="0"/>
                <a:cs typeface="Times New Roman" panose="02020603050405020304" pitchFamily="18" charset="0"/>
              </a:rPr>
              <a:t>by offering discounts, loyalty rewards, or bundled packages to substantially reduce churn among month-to-month subscribers</a:t>
            </a:r>
            <a:r>
              <a:rPr lang="en-US" sz="1400" kern="100" dirty="0">
                <a:latin typeface="Amasis MT Pro Light" panose="02040304050005020304" pitchFamily="18" charset="0"/>
                <a:ea typeface="Aptos" panose="020B0004020202020204" pitchFamily="34" charset="0"/>
                <a:cs typeface="Times New Roman" panose="02020603050405020304" pitchFamily="18" charset="0"/>
              </a:rPr>
              <a:t> and </a:t>
            </a:r>
            <a:r>
              <a:rPr lang="en-US" sz="1400" kern="100" dirty="0">
                <a:latin typeface="Amasis MT Pro Light" panose="02040304050005020304" pitchFamily="18" charset="0"/>
                <a:cs typeface="Times New Roman" panose="02020603050405020304" pitchFamily="18" charset="0"/>
              </a:rPr>
              <a:t>improve recurring revenue stability.</a:t>
            </a:r>
          </a:p>
        </p:txBody>
      </p:sp>
      <p:sp>
        <p:nvSpPr>
          <p:cNvPr id="28" name="TextBox 27">
            <a:extLst>
              <a:ext uri="{FF2B5EF4-FFF2-40B4-BE49-F238E27FC236}">
                <a16:creationId xmlns:a16="http://schemas.microsoft.com/office/drawing/2014/main" id="{BCB912C7-EBB8-176A-6432-D54BED16AD73}"/>
              </a:ext>
            </a:extLst>
          </p:cNvPr>
          <p:cNvSpPr txBox="1"/>
          <p:nvPr/>
        </p:nvSpPr>
        <p:spPr>
          <a:xfrm>
            <a:off x="2283754" y="3290697"/>
            <a:ext cx="3245904" cy="608500"/>
          </a:xfrm>
          <a:prstGeom prst="rect">
            <a:avLst/>
          </a:prstGeom>
          <a:noFill/>
        </p:spPr>
        <p:txBody>
          <a:bodyPr wrap="square" rtlCol="0">
            <a:spAutoFit/>
          </a:bodyPr>
          <a:lstStyle/>
          <a:p>
            <a:pPr marR="0" lvl="0">
              <a:lnSpc>
                <a:spcPct val="115000"/>
              </a:lnSpc>
              <a:spcBef>
                <a:spcPts val="0"/>
              </a:spcBef>
              <a:spcAft>
                <a:spcPts val="800"/>
              </a:spcAft>
              <a:tabLst>
                <a:tab pos="457200" algn="l"/>
              </a:tabLst>
            </a:pPr>
            <a:r>
              <a:rPr lang="en-US" sz="1500" b="1" kern="100" dirty="0">
                <a:effectLst/>
                <a:latin typeface="Amasis MT Pro Light" panose="02040304050005020304" pitchFamily="18" charset="0"/>
                <a:ea typeface="Aptos" panose="020B0004020202020204" pitchFamily="34" charset="0"/>
                <a:cs typeface="Times New Roman" panose="02020603050405020304" pitchFamily="18" charset="0"/>
              </a:rPr>
              <a:t>Focus on converting month-to-month customers to longer-term contracts</a:t>
            </a:r>
            <a:endParaRPr lang="en-US" sz="1500" b="1"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29" name="Rectangle 28">
            <a:extLst>
              <a:ext uri="{FF2B5EF4-FFF2-40B4-BE49-F238E27FC236}">
                <a16:creationId xmlns:a16="http://schemas.microsoft.com/office/drawing/2014/main" id="{044CDA09-ECF8-A7AA-DF3E-17954F9A9A08}"/>
              </a:ext>
            </a:extLst>
          </p:cNvPr>
          <p:cNvSpPr/>
          <p:nvPr/>
        </p:nvSpPr>
        <p:spPr>
          <a:xfrm rot="5400000" flipV="1">
            <a:off x="1342874" y="4543866"/>
            <a:ext cx="850392" cy="27432"/>
          </a:xfrm>
          <a:prstGeom prst="rect">
            <a:avLst/>
          </a:prstGeom>
          <a:solidFill>
            <a:srgbClr val="5099AA"/>
          </a:solidFill>
          <a:ln>
            <a:noFill/>
          </a:ln>
          <a:effectLst>
            <a:outerShdw blurRad="508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BECEF603-AA9C-4500-299C-B31BC19E7BCF}"/>
              </a:ext>
            </a:extLst>
          </p:cNvPr>
          <p:cNvSpPr txBox="1"/>
          <p:nvPr/>
        </p:nvSpPr>
        <p:spPr>
          <a:xfrm>
            <a:off x="6032056" y="2386294"/>
            <a:ext cx="1000467" cy="707886"/>
          </a:xfrm>
          <a:prstGeom prst="rect">
            <a:avLst/>
          </a:prstGeom>
          <a:noFill/>
        </p:spPr>
        <p:txBody>
          <a:bodyPr wrap="square" rtlCol="0">
            <a:spAutoFit/>
          </a:bodyPr>
          <a:lstStyle/>
          <a:p>
            <a:r>
              <a:rPr lang="en-US" sz="4000" b="1" dirty="0">
                <a:solidFill>
                  <a:srgbClr val="5099AA"/>
                </a:solidFill>
                <a:latin typeface="Oranienbaum" panose="02000506080000020003" pitchFamily="2" charset="0"/>
              </a:rPr>
              <a:t>02.</a:t>
            </a:r>
          </a:p>
        </p:txBody>
      </p:sp>
      <p:sp>
        <p:nvSpPr>
          <p:cNvPr id="31" name="TextBox 30">
            <a:extLst>
              <a:ext uri="{FF2B5EF4-FFF2-40B4-BE49-F238E27FC236}">
                <a16:creationId xmlns:a16="http://schemas.microsoft.com/office/drawing/2014/main" id="{D0C9E511-7EE8-1627-8AE0-4BE4CD4E8483}"/>
              </a:ext>
            </a:extLst>
          </p:cNvPr>
          <p:cNvSpPr txBox="1"/>
          <p:nvPr/>
        </p:nvSpPr>
        <p:spPr>
          <a:xfrm>
            <a:off x="6254065" y="3153811"/>
            <a:ext cx="3747872" cy="1064330"/>
          </a:xfrm>
          <a:prstGeom prst="rect">
            <a:avLst/>
          </a:prstGeom>
          <a:noFill/>
        </p:spPr>
        <p:txBody>
          <a:bodyPr wrap="square" rtlCol="0">
            <a:spAutoFit/>
          </a:bodyPr>
          <a:lstStyle/>
          <a:p>
            <a:pPr marR="0" lvl="0">
              <a:lnSpc>
                <a:spcPct val="115000"/>
              </a:lnSpc>
              <a:spcBef>
                <a:spcPts val="0"/>
              </a:spcBef>
              <a:spcAft>
                <a:spcPts val="800"/>
              </a:spcAft>
              <a:tabLst>
                <a:tab pos="457200" algn="l"/>
              </a:tabLst>
            </a:pPr>
            <a:r>
              <a:rPr lang="en-US" sz="1400" dirty="0">
                <a:latin typeface="Amasis MT Pro Light" panose="02040304050005020304" pitchFamily="18" charset="0"/>
                <a:cs typeface="Times New Roman" panose="02020603050405020304" pitchFamily="18" charset="0"/>
              </a:rPr>
              <a:t>by resolving service quality issues and introducing competitively priced tiers or loyalty bundles to close the retention gap with DSL customers.</a:t>
            </a:r>
          </a:p>
        </p:txBody>
      </p:sp>
      <p:sp>
        <p:nvSpPr>
          <p:cNvPr id="32" name="TextBox 31">
            <a:extLst>
              <a:ext uri="{FF2B5EF4-FFF2-40B4-BE49-F238E27FC236}">
                <a16:creationId xmlns:a16="http://schemas.microsoft.com/office/drawing/2014/main" id="{DD4B029B-6D34-E8EF-692A-E055E1C7A6E0}"/>
              </a:ext>
            </a:extLst>
          </p:cNvPr>
          <p:cNvSpPr txBox="1"/>
          <p:nvPr/>
        </p:nvSpPr>
        <p:spPr>
          <a:xfrm>
            <a:off x="6747675" y="2600496"/>
            <a:ext cx="3245904" cy="343043"/>
          </a:xfrm>
          <a:prstGeom prst="rect">
            <a:avLst/>
          </a:prstGeom>
          <a:noFill/>
        </p:spPr>
        <p:txBody>
          <a:bodyPr wrap="square" rtlCol="0">
            <a:spAutoFit/>
          </a:bodyPr>
          <a:lstStyle/>
          <a:p>
            <a:pPr marR="0" lvl="0">
              <a:lnSpc>
                <a:spcPct val="115000"/>
              </a:lnSpc>
              <a:spcBef>
                <a:spcPts val="0"/>
              </a:spcBef>
              <a:spcAft>
                <a:spcPts val="800"/>
              </a:spcAft>
              <a:tabLst>
                <a:tab pos="457200" algn="l"/>
              </a:tabLst>
            </a:pPr>
            <a:r>
              <a:rPr lang="en-US" sz="1500" b="1" dirty="0">
                <a:effectLst/>
                <a:latin typeface="Amasis MT Pro Light" panose="02040304050005020304" pitchFamily="18" charset="0"/>
                <a:ea typeface="Aptos" panose="020B0004020202020204" pitchFamily="34" charset="0"/>
                <a:cs typeface="Times New Roman" panose="02020603050405020304" pitchFamily="18" charset="0"/>
              </a:rPr>
              <a:t>Review the Fiber Optic service offering </a:t>
            </a:r>
            <a:endParaRPr lang="en-US" sz="1500" b="1"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33" name="Rectangle 32">
            <a:extLst>
              <a:ext uri="{FF2B5EF4-FFF2-40B4-BE49-F238E27FC236}">
                <a16:creationId xmlns:a16="http://schemas.microsoft.com/office/drawing/2014/main" id="{801B55CF-692B-1112-37FE-393D4FDBC0DD}"/>
              </a:ext>
            </a:extLst>
          </p:cNvPr>
          <p:cNvSpPr/>
          <p:nvPr/>
        </p:nvSpPr>
        <p:spPr>
          <a:xfrm rot="5400000" flipV="1">
            <a:off x="5762841" y="3689156"/>
            <a:ext cx="850392" cy="27432"/>
          </a:xfrm>
          <a:prstGeom prst="rect">
            <a:avLst/>
          </a:prstGeom>
          <a:solidFill>
            <a:srgbClr val="5099AA"/>
          </a:solidFill>
          <a:ln>
            <a:noFill/>
          </a:ln>
          <a:effectLst>
            <a:outerShdw blurRad="508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A7316F23-EC6A-8B65-EFA8-F5959A7E6BCC}"/>
              </a:ext>
            </a:extLst>
          </p:cNvPr>
          <p:cNvSpPr txBox="1"/>
          <p:nvPr/>
        </p:nvSpPr>
        <p:spPr>
          <a:xfrm>
            <a:off x="10452023" y="3112703"/>
            <a:ext cx="1000467" cy="707886"/>
          </a:xfrm>
          <a:prstGeom prst="rect">
            <a:avLst/>
          </a:prstGeom>
          <a:noFill/>
        </p:spPr>
        <p:txBody>
          <a:bodyPr wrap="square" rtlCol="0">
            <a:spAutoFit/>
          </a:bodyPr>
          <a:lstStyle/>
          <a:p>
            <a:r>
              <a:rPr lang="en-US" sz="4000" b="1" dirty="0">
                <a:solidFill>
                  <a:srgbClr val="5099AA"/>
                </a:solidFill>
                <a:latin typeface="Oranienbaum" panose="02000506080000020003" pitchFamily="2" charset="0"/>
              </a:rPr>
              <a:t>03.</a:t>
            </a:r>
          </a:p>
        </p:txBody>
      </p:sp>
      <p:sp>
        <p:nvSpPr>
          <p:cNvPr id="35" name="TextBox 34">
            <a:extLst>
              <a:ext uri="{FF2B5EF4-FFF2-40B4-BE49-F238E27FC236}">
                <a16:creationId xmlns:a16="http://schemas.microsoft.com/office/drawing/2014/main" id="{E006A151-D459-AF32-6EF8-65990EADF546}"/>
              </a:ext>
            </a:extLst>
          </p:cNvPr>
          <p:cNvSpPr txBox="1"/>
          <p:nvPr/>
        </p:nvSpPr>
        <p:spPr>
          <a:xfrm>
            <a:off x="10674032" y="3880220"/>
            <a:ext cx="3747872" cy="1069652"/>
          </a:xfrm>
          <a:prstGeom prst="rect">
            <a:avLst/>
          </a:prstGeom>
          <a:noFill/>
        </p:spPr>
        <p:txBody>
          <a:bodyPr wrap="square" rtlCol="0">
            <a:spAutoFit/>
          </a:bodyPr>
          <a:lstStyle/>
          <a:p>
            <a:pPr marR="0" lvl="0">
              <a:lnSpc>
                <a:spcPct val="115000"/>
              </a:lnSpc>
              <a:spcBef>
                <a:spcPts val="0"/>
              </a:spcBef>
              <a:spcAft>
                <a:spcPts val="800"/>
              </a:spcAft>
              <a:tabLst>
                <a:tab pos="457200" algn="l"/>
              </a:tabLst>
            </a:pPr>
            <a:r>
              <a:rPr lang="en-US" sz="1400" dirty="0">
                <a:effectLst/>
                <a:latin typeface="Amasis MT Pro Light" panose="02040304050005020304" pitchFamily="18" charset="0"/>
                <a:ea typeface="Aptos" panose="020B0004020202020204" pitchFamily="34" charset="0"/>
                <a:cs typeface="Times New Roman" panose="02020603050405020304" pitchFamily="18" charset="0"/>
              </a:rPr>
              <a:t> by encouraging customers who use Electronic Check to switch to bank transfer or credit card payments through incentives and awareness campaigns. </a:t>
            </a:r>
            <a:r>
              <a:rPr lang="en-US" sz="1400" kern="100" dirty="0">
                <a:effectLst/>
                <a:latin typeface="Amasis MT Pro Light" panose="02040304050005020304" pitchFamily="18" charset="0"/>
                <a:ea typeface="Aptos" panose="020B0004020202020204" pitchFamily="34" charset="0"/>
                <a:cs typeface="Times New Roman" panose="02020603050405020304" pitchFamily="18" charset="0"/>
              </a:rPr>
              <a:t>.</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36" name="TextBox 35">
            <a:extLst>
              <a:ext uri="{FF2B5EF4-FFF2-40B4-BE49-F238E27FC236}">
                <a16:creationId xmlns:a16="http://schemas.microsoft.com/office/drawing/2014/main" id="{87E1FF00-CA64-CC1C-2B1D-545CEAC85B3A}"/>
              </a:ext>
            </a:extLst>
          </p:cNvPr>
          <p:cNvSpPr txBox="1"/>
          <p:nvPr/>
        </p:nvSpPr>
        <p:spPr>
          <a:xfrm>
            <a:off x="11140165" y="3298773"/>
            <a:ext cx="3245904" cy="343043"/>
          </a:xfrm>
          <a:prstGeom prst="rect">
            <a:avLst/>
          </a:prstGeom>
          <a:noFill/>
        </p:spPr>
        <p:txBody>
          <a:bodyPr wrap="square" rtlCol="0">
            <a:spAutoFit/>
          </a:bodyPr>
          <a:lstStyle/>
          <a:p>
            <a:pPr marR="0" lvl="0">
              <a:lnSpc>
                <a:spcPct val="115000"/>
              </a:lnSpc>
              <a:spcBef>
                <a:spcPts val="0"/>
              </a:spcBef>
              <a:spcAft>
                <a:spcPts val="800"/>
              </a:spcAft>
              <a:tabLst>
                <a:tab pos="457200" algn="l"/>
              </a:tabLst>
            </a:pPr>
            <a:r>
              <a:rPr lang="en-US" sz="1500" b="1" dirty="0">
                <a:effectLst/>
                <a:latin typeface="Amasis MT Pro Light" panose="02040304050005020304" pitchFamily="18" charset="0"/>
                <a:ea typeface="Aptos" panose="020B0004020202020204" pitchFamily="34" charset="0"/>
                <a:cs typeface="Times New Roman" panose="02020603050405020304" pitchFamily="18" charset="0"/>
              </a:rPr>
              <a:t>Promote automatic payment methods </a:t>
            </a:r>
            <a:endParaRPr lang="en-US" sz="1500" b="1"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37" name="Rectangle 36">
            <a:extLst>
              <a:ext uri="{FF2B5EF4-FFF2-40B4-BE49-F238E27FC236}">
                <a16:creationId xmlns:a16="http://schemas.microsoft.com/office/drawing/2014/main" id="{2A2988AA-0BDD-730E-8B1D-9B8CF4354622}"/>
              </a:ext>
            </a:extLst>
          </p:cNvPr>
          <p:cNvSpPr/>
          <p:nvPr/>
        </p:nvSpPr>
        <p:spPr>
          <a:xfrm rot="5400000" flipV="1">
            <a:off x="10182808" y="4415565"/>
            <a:ext cx="850392" cy="27432"/>
          </a:xfrm>
          <a:prstGeom prst="rect">
            <a:avLst/>
          </a:prstGeom>
          <a:solidFill>
            <a:srgbClr val="5099AA"/>
          </a:solidFill>
          <a:ln>
            <a:noFill/>
          </a:ln>
          <a:effectLst>
            <a:outerShdw blurRad="508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F1670865-C943-AE5B-8DCC-5799B72B7CDF}"/>
              </a:ext>
            </a:extLst>
          </p:cNvPr>
          <p:cNvSpPr txBox="1"/>
          <p:nvPr/>
        </p:nvSpPr>
        <p:spPr>
          <a:xfrm>
            <a:off x="1658572" y="6595812"/>
            <a:ext cx="1000467" cy="707886"/>
          </a:xfrm>
          <a:prstGeom prst="rect">
            <a:avLst/>
          </a:prstGeom>
          <a:noFill/>
        </p:spPr>
        <p:txBody>
          <a:bodyPr wrap="square" rtlCol="0">
            <a:spAutoFit/>
          </a:bodyPr>
          <a:lstStyle/>
          <a:p>
            <a:r>
              <a:rPr lang="en-US" sz="4000" b="1" dirty="0">
                <a:solidFill>
                  <a:srgbClr val="5099AA"/>
                </a:solidFill>
                <a:latin typeface="Oranienbaum" panose="02000506080000020003" pitchFamily="2" charset="0"/>
              </a:rPr>
              <a:t>04.</a:t>
            </a:r>
          </a:p>
        </p:txBody>
      </p:sp>
      <p:sp>
        <p:nvSpPr>
          <p:cNvPr id="39" name="TextBox 38">
            <a:extLst>
              <a:ext uri="{FF2B5EF4-FFF2-40B4-BE49-F238E27FC236}">
                <a16:creationId xmlns:a16="http://schemas.microsoft.com/office/drawing/2014/main" id="{2A5541A0-438F-30F6-A750-1B3556F366F4}"/>
              </a:ext>
            </a:extLst>
          </p:cNvPr>
          <p:cNvSpPr txBox="1"/>
          <p:nvPr/>
        </p:nvSpPr>
        <p:spPr>
          <a:xfrm>
            <a:off x="1880581" y="7363329"/>
            <a:ext cx="3747872" cy="1069652"/>
          </a:xfrm>
          <a:prstGeom prst="rect">
            <a:avLst/>
          </a:prstGeom>
          <a:noFill/>
        </p:spPr>
        <p:txBody>
          <a:bodyPr wrap="square" rtlCol="0">
            <a:spAutoFit/>
          </a:bodyPr>
          <a:lstStyle/>
          <a:p>
            <a:pPr marR="0" lvl="0">
              <a:lnSpc>
                <a:spcPct val="115000"/>
              </a:lnSpc>
              <a:spcBef>
                <a:spcPts val="0"/>
              </a:spcBef>
              <a:spcAft>
                <a:spcPts val="800"/>
              </a:spcAft>
              <a:tabLst>
                <a:tab pos="457200" algn="l"/>
              </a:tabLst>
            </a:pPr>
            <a:r>
              <a:rPr lang="en-US" sz="1400" dirty="0">
                <a:effectLst/>
                <a:latin typeface="Amasis MT Pro Light" panose="02040304050005020304" pitchFamily="18" charset="0"/>
                <a:ea typeface="Aptos" panose="020B0004020202020204" pitchFamily="34" charset="0"/>
                <a:cs typeface="Times New Roman" panose="02020603050405020304" pitchFamily="18" charset="0"/>
              </a:rPr>
              <a:t>by making onboarding more personal and anticipatory through schedule check-ins, offering timely help, and presenting relevant upgrades or loyalty incentives early on.</a:t>
            </a:r>
            <a:r>
              <a:rPr lang="en-US" sz="1400" kern="100" dirty="0">
                <a:effectLst/>
                <a:latin typeface="Amasis MT Pro Light" panose="02040304050005020304" pitchFamily="18" charset="0"/>
                <a:ea typeface="Aptos" panose="020B0004020202020204" pitchFamily="34" charset="0"/>
                <a:cs typeface="Times New Roman" panose="02020603050405020304" pitchFamily="18" charset="0"/>
              </a:rPr>
              <a:t>.</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40" name="TextBox 39">
            <a:extLst>
              <a:ext uri="{FF2B5EF4-FFF2-40B4-BE49-F238E27FC236}">
                <a16:creationId xmlns:a16="http://schemas.microsoft.com/office/drawing/2014/main" id="{28540181-BD83-23C3-F56E-AD68BA847CD5}"/>
              </a:ext>
            </a:extLst>
          </p:cNvPr>
          <p:cNvSpPr txBox="1"/>
          <p:nvPr/>
        </p:nvSpPr>
        <p:spPr>
          <a:xfrm>
            <a:off x="2437490" y="6648133"/>
            <a:ext cx="3144480" cy="608500"/>
          </a:xfrm>
          <a:prstGeom prst="rect">
            <a:avLst/>
          </a:prstGeom>
          <a:noFill/>
        </p:spPr>
        <p:txBody>
          <a:bodyPr wrap="square" rtlCol="0">
            <a:spAutoFit/>
          </a:bodyPr>
          <a:lstStyle/>
          <a:p>
            <a:pPr marR="0" lvl="0">
              <a:lnSpc>
                <a:spcPct val="115000"/>
              </a:lnSpc>
              <a:spcBef>
                <a:spcPts val="0"/>
              </a:spcBef>
              <a:spcAft>
                <a:spcPts val="800"/>
              </a:spcAft>
              <a:tabLst>
                <a:tab pos="457200" algn="l"/>
              </a:tabLst>
            </a:pPr>
            <a:r>
              <a:rPr lang="en-US" sz="1500" b="1" dirty="0">
                <a:effectLst/>
                <a:latin typeface="Amasis MT Pro Light" panose="02040304050005020304" pitchFamily="18" charset="0"/>
                <a:ea typeface="Aptos" panose="020B0004020202020204" pitchFamily="34" charset="0"/>
                <a:cs typeface="Times New Roman" panose="02020603050405020304" pitchFamily="18" charset="0"/>
              </a:rPr>
              <a:t>Invest heavily in the first few months of a customer’s journey </a:t>
            </a:r>
            <a:endParaRPr lang="en-US" sz="1500" b="1"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41" name="Rectangle 40">
            <a:extLst>
              <a:ext uri="{FF2B5EF4-FFF2-40B4-BE49-F238E27FC236}">
                <a16:creationId xmlns:a16="http://schemas.microsoft.com/office/drawing/2014/main" id="{A8008EDE-6720-0DD7-1238-78AF190DE787}"/>
              </a:ext>
            </a:extLst>
          </p:cNvPr>
          <p:cNvSpPr/>
          <p:nvPr/>
        </p:nvSpPr>
        <p:spPr>
          <a:xfrm rot="5400000" flipV="1">
            <a:off x="1389357" y="7898674"/>
            <a:ext cx="850392" cy="27432"/>
          </a:xfrm>
          <a:prstGeom prst="rect">
            <a:avLst/>
          </a:prstGeom>
          <a:solidFill>
            <a:srgbClr val="5099AA"/>
          </a:solidFill>
          <a:ln>
            <a:noFill/>
          </a:ln>
          <a:effectLst>
            <a:outerShdw blurRad="508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94A9F128-997C-1602-3751-8E811CC6A025}"/>
              </a:ext>
            </a:extLst>
          </p:cNvPr>
          <p:cNvSpPr txBox="1"/>
          <p:nvPr/>
        </p:nvSpPr>
        <p:spPr>
          <a:xfrm>
            <a:off x="6078109" y="6184866"/>
            <a:ext cx="1000467" cy="707886"/>
          </a:xfrm>
          <a:prstGeom prst="rect">
            <a:avLst/>
          </a:prstGeom>
          <a:noFill/>
        </p:spPr>
        <p:txBody>
          <a:bodyPr wrap="square" rtlCol="0">
            <a:spAutoFit/>
          </a:bodyPr>
          <a:lstStyle/>
          <a:p>
            <a:r>
              <a:rPr lang="en-US" sz="4000" b="1" dirty="0">
                <a:solidFill>
                  <a:srgbClr val="5099AA"/>
                </a:solidFill>
                <a:latin typeface="Oranienbaum" panose="02000506080000020003" pitchFamily="2" charset="0"/>
              </a:rPr>
              <a:t>05.</a:t>
            </a:r>
          </a:p>
        </p:txBody>
      </p:sp>
      <p:sp>
        <p:nvSpPr>
          <p:cNvPr id="43" name="TextBox 42">
            <a:extLst>
              <a:ext uri="{FF2B5EF4-FFF2-40B4-BE49-F238E27FC236}">
                <a16:creationId xmlns:a16="http://schemas.microsoft.com/office/drawing/2014/main" id="{69057BA9-B397-3EDB-A40A-3DC2CF426583}"/>
              </a:ext>
            </a:extLst>
          </p:cNvPr>
          <p:cNvSpPr txBox="1"/>
          <p:nvPr/>
        </p:nvSpPr>
        <p:spPr>
          <a:xfrm>
            <a:off x="6300118" y="6952383"/>
            <a:ext cx="3747872" cy="1069652"/>
          </a:xfrm>
          <a:prstGeom prst="rect">
            <a:avLst/>
          </a:prstGeom>
          <a:noFill/>
        </p:spPr>
        <p:txBody>
          <a:bodyPr wrap="square" rtlCol="0">
            <a:spAutoFit/>
          </a:bodyPr>
          <a:lstStyle/>
          <a:p>
            <a:pPr marR="0" lvl="0">
              <a:lnSpc>
                <a:spcPct val="115000"/>
              </a:lnSpc>
              <a:spcBef>
                <a:spcPts val="0"/>
              </a:spcBef>
              <a:spcAft>
                <a:spcPts val="800"/>
              </a:spcAft>
              <a:tabLst>
                <a:tab pos="457200" algn="l"/>
              </a:tabLst>
            </a:pPr>
            <a:r>
              <a:rPr lang="en-US" sz="1400" dirty="0">
                <a:effectLst/>
                <a:latin typeface="Amasis MT Pro Light" panose="02040304050005020304" pitchFamily="18" charset="0"/>
                <a:ea typeface="Aptos" panose="020B0004020202020204" pitchFamily="34" charset="0"/>
                <a:cs typeface="Times New Roman" panose="02020603050405020304" pitchFamily="18" charset="0"/>
              </a:rPr>
              <a:t>such as Tech Support and Online Security, through bundled plans and promotional campaigns to improve customer satisfaction and retention. </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44" name="TextBox 43">
            <a:extLst>
              <a:ext uri="{FF2B5EF4-FFF2-40B4-BE49-F238E27FC236}">
                <a16:creationId xmlns:a16="http://schemas.microsoft.com/office/drawing/2014/main" id="{53E0F7FB-99B0-1CF5-3F3F-38F8D68B03DA}"/>
              </a:ext>
            </a:extLst>
          </p:cNvPr>
          <p:cNvSpPr txBox="1"/>
          <p:nvPr/>
        </p:nvSpPr>
        <p:spPr>
          <a:xfrm>
            <a:off x="6831391" y="6233564"/>
            <a:ext cx="3245904" cy="608500"/>
          </a:xfrm>
          <a:prstGeom prst="rect">
            <a:avLst/>
          </a:prstGeom>
          <a:noFill/>
        </p:spPr>
        <p:txBody>
          <a:bodyPr wrap="square" rtlCol="0">
            <a:spAutoFit/>
          </a:bodyPr>
          <a:lstStyle/>
          <a:p>
            <a:pPr marR="0" lvl="0">
              <a:lnSpc>
                <a:spcPct val="115000"/>
              </a:lnSpc>
              <a:spcBef>
                <a:spcPts val="0"/>
              </a:spcBef>
              <a:spcAft>
                <a:spcPts val="800"/>
              </a:spcAft>
              <a:tabLst>
                <a:tab pos="457200" algn="l"/>
              </a:tabLst>
            </a:pPr>
            <a:r>
              <a:rPr lang="en-US" sz="1500" b="1" dirty="0">
                <a:effectLst/>
                <a:latin typeface="Amasis MT Pro Light" panose="02040304050005020304" pitchFamily="18" charset="0"/>
                <a:ea typeface="Aptos" panose="020B0004020202020204" pitchFamily="34" charset="0"/>
                <a:cs typeface="Times New Roman" panose="02020603050405020304" pitchFamily="18" charset="0"/>
              </a:rPr>
              <a:t>Increase adoption of value-added services</a:t>
            </a:r>
            <a:endParaRPr lang="en-US" sz="1500" b="1"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45" name="Rectangle 44">
            <a:extLst>
              <a:ext uri="{FF2B5EF4-FFF2-40B4-BE49-F238E27FC236}">
                <a16:creationId xmlns:a16="http://schemas.microsoft.com/office/drawing/2014/main" id="{7119F272-02A6-46FF-001E-39442A1E9AAF}"/>
              </a:ext>
            </a:extLst>
          </p:cNvPr>
          <p:cNvSpPr/>
          <p:nvPr/>
        </p:nvSpPr>
        <p:spPr>
          <a:xfrm rot="5400000" flipV="1">
            <a:off x="5808894" y="7487728"/>
            <a:ext cx="850392" cy="27432"/>
          </a:xfrm>
          <a:prstGeom prst="rect">
            <a:avLst/>
          </a:prstGeom>
          <a:solidFill>
            <a:srgbClr val="5099AA"/>
          </a:solidFill>
          <a:ln>
            <a:noFill/>
          </a:ln>
          <a:effectLst>
            <a:outerShdw blurRad="508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D7E0B551-6FA7-0170-FE51-923E32D7E10C}"/>
              </a:ext>
            </a:extLst>
          </p:cNvPr>
          <p:cNvSpPr txBox="1"/>
          <p:nvPr/>
        </p:nvSpPr>
        <p:spPr>
          <a:xfrm>
            <a:off x="10433172" y="6590285"/>
            <a:ext cx="1000467" cy="707886"/>
          </a:xfrm>
          <a:prstGeom prst="rect">
            <a:avLst/>
          </a:prstGeom>
          <a:noFill/>
        </p:spPr>
        <p:txBody>
          <a:bodyPr wrap="square" rtlCol="0">
            <a:spAutoFit/>
          </a:bodyPr>
          <a:lstStyle/>
          <a:p>
            <a:r>
              <a:rPr lang="en-US" sz="4000" b="1" dirty="0">
                <a:solidFill>
                  <a:srgbClr val="5099AA"/>
                </a:solidFill>
                <a:latin typeface="Oranienbaum" panose="02000506080000020003" pitchFamily="2" charset="0"/>
              </a:rPr>
              <a:t>06.</a:t>
            </a:r>
          </a:p>
        </p:txBody>
      </p:sp>
      <p:sp>
        <p:nvSpPr>
          <p:cNvPr id="47" name="TextBox 46">
            <a:extLst>
              <a:ext uri="{FF2B5EF4-FFF2-40B4-BE49-F238E27FC236}">
                <a16:creationId xmlns:a16="http://schemas.microsoft.com/office/drawing/2014/main" id="{A2E1F795-0B59-D4F4-B8E0-AE3C8A767C02}"/>
              </a:ext>
            </a:extLst>
          </p:cNvPr>
          <p:cNvSpPr txBox="1"/>
          <p:nvPr/>
        </p:nvSpPr>
        <p:spPr>
          <a:xfrm>
            <a:off x="10655181" y="7357802"/>
            <a:ext cx="3747872" cy="1064330"/>
          </a:xfrm>
          <a:prstGeom prst="rect">
            <a:avLst/>
          </a:prstGeom>
          <a:noFill/>
        </p:spPr>
        <p:txBody>
          <a:bodyPr wrap="square" rtlCol="0">
            <a:spAutoFit/>
          </a:bodyPr>
          <a:lstStyle/>
          <a:p>
            <a:pPr marR="0" lvl="0">
              <a:lnSpc>
                <a:spcPct val="115000"/>
              </a:lnSpc>
              <a:spcBef>
                <a:spcPts val="0"/>
              </a:spcBef>
              <a:spcAft>
                <a:spcPts val="800"/>
              </a:spcAft>
              <a:tabLst>
                <a:tab pos="457200" algn="l"/>
              </a:tabLst>
            </a:pPr>
            <a:r>
              <a:rPr lang="en-US" sz="1400" dirty="0">
                <a:latin typeface="Amasis MT Pro Light" panose="02040304050005020304" pitchFamily="18" charset="0"/>
                <a:cs typeface="Times New Roman" panose="02020603050405020304" pitchFamily="18" charset="0"/>
              </a:rPr>
              <a:t>by combining tenure, contract type, and payment method into a risk score that flags customers before cancellation intent forms, triggering proactive outreach.</a:t>
            </a:r>
          </a:p>
        </p:txBody>
      </p:sp>
      <p:sp>
        <p:nvSpPr>
          <p:cNvPr id="48" name="TextBox 47">
            <a:extLst>
              <a:ext uri="{FF2B5EF4-FFF2-40B4-BE49-F238E27FC236}">
                <a16:creationId xmlns:a16="http://schemas.microsoft.com/office/drawing/2014/main" id="{E6365824-B2B3-7AEE-E660-22E6D72ABA0E}"/>
              </a:ext>
            </a:extLst>
          </p:cNvPr>
          <p:cNvSpPr txBox="1"/>
          <p:nvPr/>
        </p:nvSpPr>
        <p:spPr>
          <a:xfrm>
            <a:off x="11176000" y="6638983"/>
            <a:ext cx="3245904" cy="602857"/>
          </a:xfrm>
          <a:prstGeom prst="rect">
            <a:avLst/>
          </a:prstGeom>
          <a:noFill/>
        </p:spPr>
        <p:txBody>
          <a:bodyPr wrap="square" rtlCol="0">
            <a:spAutoFit/>
          </a:bodyPr>
          <a:lstStyle/>
          <a:p>
            <a:pPr marR="0" lvl="0">
              <a:lnSpc>
                <a:spcPct val="115000"/>
              </a:lnSpc>
              <a:spcBef>
                <a:spcPts val="0"/>
              </a:spcBef>
              <a:spcAft>
                <a:spcPts val="800"/>
              </a:spcAft>
              <a:tabLst>
                <a:tab pos="457200" algn="l"/>
              </a:tabLst>
            </a:pPr>
            <a:r>
              <a:rPr lang="en-US" sz="1500" b="1" dirty="0">
                <a:latin typeface="Amasis MT Pro Light" panose="02040304050005020304" pitchFamily="18" charset="0"/>
                <a:cs typeface="Times New Roman" panose="02020603050405020304" pitchFamily="18" charset="0"/>
              </a:rPr>
              <a:t>Build a churn-risk scoring system for early intervention</a:t>
            </a:r>
          </a:p>
        </p:txBody>
      </p:sp>
      <p:sp>
        <p:nvSpPr>
          <p:cNvPr id="49" name="Rectangle 48">
            <a:extLst>
              <a:ext uri="{FF2B5EF4-FFF2-40B4-BE49-F238E27FC236}">
                <a16:creationId xmlns:a16="http://schemas.microsoft.com/office/drawing/2014/main" id="{E66A7549-70A4-8BF5-40F3-626F12B6DFFD}"/>
              </a:ext>
            </a:extLst>
          </p:cNvPr>
          <p:cNvSpPr/>
          <p:nvPr/>
        </p:nvSpPr>
        <p:spPr>
          <a:xfrm rot="5400000" flipV="1">
            <a:off x="10163957" y="7893147"/>
            <a:ext cx="850392" cy="27432"/>
          </a:xfrm>
          <a:prstGeom prst="rect">
            <a:avLst/>
          </a:prstGeom>
          <a:solidFill>
            <a:srgbClr val="5099AA"/>
          </a:solidFill>
          <a:ln>
            <a:noFill/>
          </a:ln>
          <a:effectLst>
            <a:outerShdw blurRad="508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170516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FB25984-9AC4-8A99-7272-DCFB945BA2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56" y="0"/>
            <a:ext cx="16242888" cy="9144000"/>
          </a:xfrm>
          <a:prstGeom prst="rect">
            <a:avLst/>
          </a:prstGeom>
        </p:spPr>
      </p:pic>
      <p:sp>
        <p:nvSpPr>
          <p:cNvPr id="4" name="Rectangle 3">
            <a:extLst>
              <a:ext uri="{FF2B5EF4-FFF2-40B4-BE49-F238E27FC236}">
                <a16:creationId xmlns:a16="http://schemas.microsoft.com/office/drawing/2014/main" id="{BD6418C3-3E3D-F973-0F8E-BCF2BBB5AD8B}"/>
              </a:ext>
            </a:extLst>
          </p:cNvPr>
          <p:cNvSpPr/>
          <p:nvPr/>
        </p:nvSpPr>
        <p:spPr>
          <a:xfrm>
            <a:off x="-14738" y="0"/>
            <a:ext cx="16285464" cy="9144000"/>
          </a:xfrm>
          <a:prstGeom prst="rect">
            <a:avLst/>
          </a:prstGeom>
          <a:gradFill flip="none" rotWithShape="1">
            <a:gsLst>
              <a:gs pos="50000">
                <a:srgbClr val="14262A">
                  <a:alpha val="91000"/>
                </a:srgbClr>
              </a:gs>
              <a:gs pos="0">
                <a:srgbClr val="14262A">
                  <a:alpha val="90000"/>
                </a:srgbClr>
              </a:gs>
              <a:gs pos="100000">
                <a:srgbClr val="14262A">
                  <a:alpha val="94902"/>
                </a:srgb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7772BAB4-74F4-16E9-6752-3E8E51628603}"/>
              </a:ext>
            </a:extLst>
          </p:cNvPr>
          <p:cNvSpPr txBox="1"/>
          <p:nvPr/>
        </p:nvSpPr>
        <p:spPr>
          <a:xfrm>
            <a:off x="2290187" y="3132948"/>
            <a:ext cx="12430142" cy="1015663"/>
          </a:xfrm>
          <a:prstGeom prst="rect">
            <a:avLst/>
          </a:prstGeom>
          <a:noFill/>
        </p:spPr>
        <p:txBody>
          <a:bodyPr wrap="square" rtlCol="0">
            <a:spAutoFit/>
          </a:bodyPr>
          <a:lstStyle/>
          <a:p>
            <a:pPr algn="ctr"/>
            <a:r>
              <a:rPr lang="en-US" sz="6000" b="1" dirty="0">
                <a:solidFill>
                  <a:schemeClr val="bg1"/>
                </a:solidFill>
                <a:latin typeface="Amasis MT Pro Light" panose="02040304050005020304" pitchFamily="18" charset="0"/>
              </a:rPr>
              <a:t>From Insights to Impact</a:t>
            </a:r>
          </a:p>
        </p:txBody>
      </p:sp>
      <p:sp>
        <p:nvSpPr>
          <p:cNvPr id="10" name="Rectangle 9">
            <a:extLst>
              <a:ext uri="{FF2B5EF4-FFF2-40B4-BE49-F238E27FC236}">
                <a16:creationId xmlns:a16="http://schemas.microsoft.com/office/drawing/2014/main" id="{1209BBD8-3BDC-4A36-C248-B7D83467B8FF}"/>
              </a:ext>
            </a:extLst>
          </p:cNvPr>
          <p:cNvSpPr/>
          <p:nvPr/>
        </p:nvSpPr>
        <p:spPr>
          <a:xfrm rot="5400000" flipV="1">
            <a:off x="3947887" y="3572814"/>
            <a:ext cx="1015665" cy="135929"/>
          </a:xfrm>
          <a:prstGeom prst="rect">
            <a:avLst/>
          </a:prstGeom>
          <a:solidFill>
            <a:srgbClr val="5099AA">
              <a:alpha val="3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B062269-4350-A6D6-241C-45D9BBB5B66D}"/>
              </a:ext>
            </a:extLst>
          </p:cNvPr>
          <p:cNvSpPr/>
          <p:nvPr/>
        </p:nvSpPr>
        <p:spPr>
          <a:xfrm>
            <a:off x="7177020" y="6630483"/>
            <a:ext cx="1901952" cy="9144"/>
          </a:xfrm>
          <a:prstGeom prst="rect">
            <a:avLst/>
          </a:prstGeom>
          <a:solidFill>
            <a:schemeClr val="bg1">
              <a:lumMod val="85000"/>
              <a:alpha val="3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4FFE4CC4-9CE8-2E7D-CB1D-465980E868F6}"/>
              </a:ext>
            </a:extLst>
          </p:cNvPr>
          <p:cNvSpPr txBox="1"/>
          <p:nvPr/>
        </p:nvSpPr>
        <p:spPr>
          <a:xfrm>
            <a:off x="2207084" y="6273533"/>
            <a:ext cx="11841823" cy="323165"/>
          </a:xfrm>
          <a:prstGeom prst="rect">
            <a:avLst/>
          </a:prstGeom>
          <a:noFill/>
        </p:spPr>
        <p:txBody>
          <a:bodyPr wrap="square" rtlCol="0">
            <a:spAutoFit/>
          </a:bodyPr>
          <a:lstStyle/>
          <a:p>
            <a:pPr algn="ctr"/>
            <a:r>
              <a:rPr lang="en-US" sz="1500" dirty="0">
                <a:solidFill>
                  <a:schemeClr val="bg1"/>
                </a:solidFill>
                <a:latin typeface="Calibri Light" panose="020F0302020204030204" pitchFamily="34" charset="0"/>
                <a:ea typeface="Calibri Light" panose="020F0302020204030204" pitchFamily="34" charset="0"/>
                <a:cs typeface="Calibri Light" panose="020F0302020204030204" pitchFamily="34" charset="0"/>
              </a:rPr>
              <a:t>A Business Analytics Case Study</a:t>
            </a:r>
          </a:p>
        </p:txBody>
      </p:sp>
      <p:sp>
        <p:nvSpPr>
          <p:cNvPr id="13" name="TextBox 12">
            <a:extLst>
              <a:ext uri="{FF2B5EF4-FFF2-40B4-BE49-F238E27FC236}">
                <a16:creationId xmlns:a16="http://schemas.microsoft.com/office/drawing/2014/main" id="{F35BA75B-EFA2-D2A1-AAD2-87DC6220DE4A}"/>
              </a:ext>
            </a:extLst>
          </p:cNvPr>
          <p:cNvSpPr txBox="1"/>
          <p:nvPr/>
        </p:nvSpPr>
        <p:spPr>
          <a:xfrm>
            <a:off x="2750780" y="6912225"/>
            <a:ext cx="10754429" cy="369332"/>
          </a:xfrm>
          <a:prstGeom prst="rect">
            <a:avLst/>
          </a:prstGeom>
          <a:noFill/>
        </p:spPr>
        <p:txBody>
          <a:bodyPr wrap="square" rtlCol="0">
            <a:spAutoFit/>
          </a:bodyPr>
          <a:lstStyle/>
          <a:p>
            <a:pPr algn="ctr"/>
            <a:r>
              <a:rPr lang="en-US" dirty="0">
                <a:solidFill>
                  <a:schemeClr val="bg1"/>
                </a:solidFill>
                <a:latin typeface="Candara Light" panose="020E0502030303020204" pitchFamily="34" charset="0"/>
                <a:ea typeface="Calibri Light" panose="020F0302020204030204" pitchFamily="34" charset="0"/>
                <a:cs typeface="Calibri Light" panose="020F0302020204030204" pitchFamily="34" charset="0"/>
              </a:rPr>
              <a:t>AHANONU IMMANUEL | ANALYSTLAB AFRICA | WEEK 1</a:t>
            </a:r>
          </a:p>
        </p:txBody>
      </p:sp>
      <p:sp>
        <p:nvSpPr>
          <p:cNvPr id="2" name="TextBox 1">
            <a:extLst>
              <a:ext uri="{FF2B5EF4-FFF2-40B4-BE49-F238E27FC236}">
                <a16:creationId xmlns:a16="http://schemas.microsoft.com/office/drawing/2014/main" id="{66BA2A21-5D96-8F94-D33C-06AE4D1FEB78}"/>
              </a:ext>
            </a:extLst>
          </p:cNvPr>
          <p:cNvSpPr txBox="1"/>
          <p:nvPr/>
        </p:nvSpPr>
        <p:spPr>
          <a:xfrm>
            <a:off x="4684480" y="4625608"/>
            <a:ext cx="7641555" cy="584775"/>
          </a:xfrm>
          <a:prstGeom prst="rect">
            <a:avLst/>
          </a:prstGeom>
          <a:noFill/>
        </p:spPr>
        <p:txBody>
          <a:bodyPr wrap="square" rtlCol="0">
            <a:spAutoFit/>
          </a:bodyPr>
          <a:lstStyle/>
          <a:p>
            <a:pPr algn="ctr"/>
            <a:r>
              <a:rPr lang="en-US" sz="1600" dirty="0">
                <a:solidFill>
                  <a:schemeClr val="bg1"/>
                </a:solidFill>
                <a:latin typeface="Amasis MT Pro Light" panose="02040304050005020304" pitchFamily="18" charset="0"/>
                <a:ea typeface="Calibri Light" panose="020F0302020204030204" pitchFamily="34" charset="0"/>
                <a:cs typeface="Calibri Light" panose="020F0302020204030204" pitchFamily="34" charset="0"/>
              </a:rPr>
              <a:t>By translating customer data into actionable insights, this study highlighted how analytics empowers smarter strategy and stronger customer loyalty.</a:t>
            </a:r>
          </a:p>
        </p:txBody>
      </p:sp>
      <p:sp>
        <p:nvSpPr>
          <p:cNvPr id="6" name="TextBox 5">
            <a:extLst>
              <a:ext uri="{FF2B5EF4-FFF2-40B4-BE49-F238E27FC236}">
                <a16:creationId xmlns:a16="http://schemas.microsoft.com/office/drawing/2014/main" id="{594DE7C5-D3F7-ABC4-CB52-FE8F5284F3B1}"/>
              </a:ext>
            </a:extLst>
          </p:cNvPr>
          <p:cNvSpPr txBox="1"/>
          <p:nvPr/>
        </p:nvSpPr>
        <p:spPr>
          <a:xfrm>
            <a:off x="4300666" y="5572681"/>
            <a:ext cx="7641555" cy="338554"/>
          </a:xfrm>
          <a:prstGeom prst="rect">
            <a:avLst/>
          </a:prstGeom>
          <a:noFill/>
        </p:spPr>
        <p:txBody>
          <a:bodyPr wrap="square" rtlCol="0">
            <a:spAutoFit/>
          </a:bodyPr>
          <a:lstStyle/>
          <a:p>
            <a:pPr algn="ctr"/>
            <a:r>
              <a:rPr lang="en-US" sz="1600" dirty="0">
                <a:solidFill>
                  <a:schemeClr val="bg1"/>
                </a:solidFill>
                <a:latin typeface="Amasis MT Pro Light" panose="02040304050005020304" pitchFamily="18" charset="0"/>
                <a:ea typeface="Calibri Light" panose="020F0302020204030204" pitchFamily="34" charset="0"/>
                <a:cs typeface="Calibri Light" panose="020F0302020204030204" pitchFamily="34" charset="0"/>
              </a:rPr>
              <a:t>THANK YOU</a:t>
            </a:r>
          </a:p>
        </p:txBody>
      </p:sp>
    </p:spTree>
    <p:extLst>
      <p:ext uri="{BB962C8B-B14F-4D97-AF65-F5344CB8AC3E}">
        <p14:creationId xmlns:p14="http://schemas.microsoft.com/office/powerpoint/2010/main" val="181636509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674</TotalTime>
  <Words>1297</Words>
  <Application>Microsoft Office PowerPoint</Application>
  <PresentationFormat>Custom</PresentationFormat>
  <Paragraphs>142</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Amasis MT Pro Light</vt:lpstr>
      <vt:lpstr>Aptos</vt:lpstr>
      <vt:lpstr>Aptos Display</vt:lpstr>
      <vt:lpstr>Arial</vt:lpstr>
      <vt:lpstr>Calibri Light</vt:lpstr>
      <vt:lpstr>Candara Light</vt:lpstr>
      <vt:lpstr>Oranienbaum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Immanuel Chukwudubem</dc:creator>
  <cp:lastModifiedBy>Immanuel Chukwudubem</cp:lastModifiedBy>
  <cp:revision>10</cp:revision>
  <dcterms:created xsi:type="dcterms:W3CDTF">2026-08-04T07:42:39Z</dcterms:created>
  <dcterms:modified xsi:type="dcterms:W3CDTF">2026-08-05T09:26:58Z</dcterms:modified>
</cp:coreProperties>
</file>